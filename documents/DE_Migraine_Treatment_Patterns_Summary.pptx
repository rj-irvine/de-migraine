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4" r:id="rId4"/>
    <p:sldMasterId id="2147484449" r:id="rId5"/>
  </p:sldMasterIdLst>
  <p:notesMasterIdLst>
    <p:notesMasterId r:id="rId13"/>
  </p:notesMasterIdLst>
  <p:handoutMasterIdLst>
    <p:handoutMasterId r:id="rId14"/>
  </p:handoutMasterIdLst>
  <p:sldIdLst>
    <p:sldId id="257" r:id="rId6"/>
    <p:sldId id="258" r:id="rId7"/>
    <p:sldId id="259" r:id="rId8"/>
    <p:sldId id="260"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139913-BFBA-4189-3957-F83E4C20DDB0}" name="Jackett, Stephen" initials="SJ" userId="S::stephen.jackett@organon.com::0bef1c98-69b1-48e4-bc92-135240dc0a47" providerId="AD"/>
  <p188:author id="{C0ADE842-EBB5-ED85-94FB-CF3E710B731B}" name="Silver, Hannah" initials="HS" userId="S::hannah.silver@organon.com::7d4cd25d-d81e-4fe6-aa29-ff964ab0ce42" providerId="AD"/>
  <p188:author id="{58D4377D-3B4D-A4B3-DD99-359EAF377A58}" name="Breitstein, Joanna" initials="JB" userId="S::joanna.breitstein@organon.com::a3b65a5a-1e05-456d-b5e8-c17958c4b715" providerId="AD"/>
  <p188:author id="{AE88B8A6-FB2A-BBD0-B466-D4D211056B88}" name="Josh Ashley-Jones" initials="JA" userId="S::josh.ashley-jones@four.agency::3a92f106-54b8-4c33-8480-05f8b2d9ebe0" providerId="AD"/>
  <p188:author id="{9B823DE9-DA58-95D3-2AFF-D33DED5B2B0D}" name="Alice Walker" initials="AW" userId="S::alice.walker@four.agency::ea97e75b-919c-46bd-9fe3-e6190ef56c5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9D7"/>
    <a:srgbClr val="C8C8C8"/>
    <a:srgbClr val="E201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746" autoAdjust="0"/>
  </p:normalViewPr>
  <p:slideViewPr>
    <p:cSldViewPr snapToGrid="0">
      <p:cViewPr varScale="1">
        <p:scale>
          <a:sx n="141" d="100"/>
          <a:sy n="141" d="100"/>
        </p:scale>
        <p:origin x="1014" y="120"/>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2.xml"/><Relationship Id="rId15" Type="http://schemas.openxmlformats.org/officeDocument/2006/relationships/presProps" Target="presProps.xml"/><Relationship Id="rId10" Type="http://schemas.openxmlformats.org/officeDocument/2006/relationships/slide" Target="slides/slide5.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rvine, Ryan" userId="9323ca53-6d86-4033-a7d1-8ca4b66fedb2" providerId="ADAL" clId="{6E4AD11E-AE7E-4E29-AB53-5DF959F1DE3C}"/>
    <pc:docChg chg="custSel modSld delMainMaster">
      <pc:chgData name="Irvine, Ryan" userId="9323ca53-6d86-4033-a7d1-8ca4b66fedb2" providerId="ADAL" clId="{6E4AD11E-AE7E-4E29-AB53-5DF959F1DE3C}" dt="2026-08-17T18:07:24.247" v="117" actId="20577"/>
      <pc:docMkLst>
        <pc:docMk/>
      </pc:docMkLst>
      <pc:sldChg chg="modSp mod">
        <pc:chgData name="Irvine, Ryan" userId="9323ca53-6d86-4033-a7d1-8ca4b66fedb2" providerId="ADAL" clId="{6E4AD11E-AE7E-4E29-AB53-5DF959F1DE3C}" dt="2026-08-17T18:04:41.298" v="111" actId="20577"/>
        <pc:sldMkLst>
          <pc:docMk/>
          <pc:sldMk cId="0" sldId="257"/>
        </pc:sldMkLst>
        <pc:spChg chg="mod">
          <ac:chgData name="Irvine, Ryan" userId="9323ca53-6d86-4033-a7d1-8ca4b66fedb2" providerId="ADAL" clId="{6E4AD11E-AE7E-4E29-AB53-5DF959F1DE3C}" dt="2026-08-17T18:04:41.298" v="111" actId="20577"/>
          <ac:spMkLst>
            <pc:docMk/>
            <pc:sldMk cId="0" sldId="257"/>
            <ac:spMk id="2" creationId="{00000000-0000-0000-0000-000000000000}"/>
          </ac:spMkLst>
        </pc:spChg>
      </pc:sldChg>
      <pc:sldChg chg="modSp mod">
        <pc:chgData name="Irvine, Ryan" userId="9323ca53-6d86-4033-a7d1-8ca4b66fedb2" providerId="ADAL" clId="{6E4AD11E-AE7E-4E29-AB53-5DF959F1DE3C}" dt="2026-08-17T18:02:49.895" v="12" actId="20577"/>
        <pc:sldMkLst>
          <pc:docMk/>
          <pc:sldMk cId="0" sldId="259"/>
        </pc:sldMkLst>
        <pc:spChg chg="mod">
          <ac:chgData name="Irvine, Ryan" userId="9323ca53-6d86-4033-a7d1-8ca4b66fedb2" providerId="ADAL" clId="{6E4AD11E-AE7E-4E29-AB53-5DF959F1DE3C}" dt="2026-08-17T18:02:49.895" v="12" actId="20577"/>
          <ac:spMkLst>
            <pc:docMk/>
            <pc:sldMk cId="0" sldId="259"/>
            <ac:spMk id="15" creationId="{00000000-0000-0000-0000-000000000000}"/>
          </ac:spMkLst>
        </pc:spChg>
      </pc:sldChg>
      <pc:sldChg chg="modSp mod">
        <pc:chgData name="Irvine, Ryan" userId="9323ca53-6d86-4033-a7d1-8ca4b66fedb2" providerId="ADAL" clId="{6E4AD11E-AE7E-4E29-AB53-5DF959F1DE3C}" dt="2026-08-17T18:07:24.247" v="117" actId="20577"/>
        <pc:sldMkLst>
          <pc:docMk/>
          <pc:sldMk cId="0" sldId="260"/>
        </pc:sldMkLst>
        <pc:spChg chg="mod">
          <ac:chgData name="Irvine, Ryan" userId="9323ca53-6d86-4033-a7d1-8ca4b66fedb2" providerId="ADAL" clId="{6E4AD11E-AE7E-4E29-AB53-5DF959F1DE3C}" dt="2026-08-17T18:07:24.247" v="117" actId="20577"/>
          <ac:spMkLst>
            <pc:docMk/>
            <pc:sldMk cId="0" sldId="260"/>
            <ac:spMk id="2" creationId="{00000000-0000-0000-0000-000000000000}"/>
          </ac:spMkLst>
        </pc:spChg>
      </pc:sldChg>
      <pc:sldChg chg="modSp mod">
        <pc:chgData name="Irvine, Ryan" userId="9323ca53-6d86-4033-a7d1-8ca4b66fedb2" providerId="ADAL" clId="{6E4AD11E-AE7E-4E29-AB53-5DF959F1DE3C}" dt="2026-08-17T18:04:31.552" v="93" actId="20577"/>
        <pc:sldMkLst>
          <pc:docMk/>
          <pc:sldMk cId="0" sldId="266"/>
        </pc:sldMkLst>
        <pc:spChg chg="mod">
          <ac:chgData name="Irvine, Ryan" userId="9323ca53-6d86-4033-a7d1-8ca4b66fedb2" providerId="ADAL" clId="{6E4AD11E-AE7E-4E29-AB53-5DF959F1DE3C}" dt="2026-08-17T18:04:07.839" v="72" actId="20577"/>
          <ac:spMkLst>
            <pc:docMk/>
            <pc:sldMk cId="0" sldId="266"/>
            <ac:spMk id="2" creationId="{00000000-0000-0000-0000-000000000000}"/>
          </ac:spMkLst>
        </pc:spChg>
        <pc:spChg chg="mod">
          <ac:chgData name="Irvine, Ryan" userId="9323ca53-6d86-4033-a7d1-8ca4b66fedb2" providerId="ADAL" clId="{6E4AD11E-AE7E-4E29-AB53-5DF959F1DE3C}" dt="2026-08-17T18:04:31.552" v="93" actId="20577"/>
          <ac:spMkLst>
            <pc:docMk/>
            <pc:sldMk cId="0" sldId="266"/>
            <ac:spMk id="21" creationId="{00000000-0000-0000-0000-000000000000}"/>
          </ac:spMkLst>
        </pc:spChg>
      </pc:sldChg>
      <pc:sldMasterChg chg="delSldLayout">
        <pc:chgData name="Irvine, Ryan" userId="9323ca53-6d86-4033-a7d1-8ca4b66fedb2" providerId="ADAL" clId="{6E4AD11E-AE7E-4E29-AB53-5DF959F1DE3C}" dt="2026-08-17T18:04:44.077" v="112"/>
        <pc:sldMasterMkLst>
          <pc:docMk/>
          <pc:sldMasterMk cId="3751961532" sldId="2147483994"/>
        </pc:sldMasterMkLst>
        <pc:sldLayoutChg chg="del">
          <pc:chgData name="Irvine, Ryan" userId="9323ca53-6d86-4033-a7d1-8ca4b66fedb2" providerId="ADAL" clId="{6E4AD11E-AE7E-4E29-AB53-5DF959F1DE3C}" dt="2026-08-17T18:04:44.077" v="112"/>
          <pc:sldLayoutMkLst>
            <pc:docMk/>
            <pc:sldMasterMk cId="3751961532" sldId="2147483994"/>
            <pc:sldLayoutMk cId="1303429141" sldId="2147483726"/>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830162782" sldId="2147483734"/>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1400236544" sldId="2147483735"/>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1572010133" sldId="2147483736"/>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3131721702" sldId="2147483737"/>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968980251" sldId="2147483738"/>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2242778" sldId="2147483739"/>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3996574537" sldId="2147483740"/>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1217668518" sldId="2147483741"/>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974050018" sldId="2147483743"/>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738820121" sldId="2147483745"/>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716408378" sldId="2147483802"/>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953089529" sldId="2147483803"/>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3356584386" sldId="2147483804"/>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3923200592" sldId="2147484011"/>
          </pc:sldLayoutMkLst>
        </pc:sldLayoutChg>
        <pc:sldLayoutChg chg="del">
          <pc:chgData name="Irvine, Ryan" userId="9323ca53-6d86-4033-a7d1-8ca4b66fedb2" providerId="ADAL" clId="{6E4AD11E-AE7E-4E29-AB53-5DF959F1DE3C}" dt="2026-08-17T18:04:44.077" v="112"/>
          <pc:sldLayoutMkLst>
            <pc:docMk/>
            <pc:sldMasterMk cId="3751961532" sldId="2147483994"/>
            <pc:sldLayoutMk cId="2639349536" sldId="2147484014"/>
          </pc:sldLayoutMkLst>
        </pc:sldLayoutChg>
      </pc:sldMasterChg>
      <pc:sldMasterChg chg="del delSldLayout">
        <pc:chgData name="Irvine, Ryan" userId="9323ca53-6d86-4033-a7d1-8ca4b66fedb2" providerId="ADAL" clId="{6E4AD11E-AE7E-4E29-AB53-5DF959F1DE3C}" dt="2026-08-17T18:04:44.077" v="112"/>
        <pc:sldMasterMkLst>
          <pc:docMk/>
          <pc:sldMasterMk cId="2745451976" sldId="2147484119"/>
        </pc:sldMasterMkLst>
        <pc:sldLayoutChg chg="del">
          <pc:chgData name="Irvine, Ryan" userId="9323ca53-6d86-4033-a7d1-8ca4b66fedb2" providerId="ADAL" clId="{6E4AD11E-AE7E-4E29-AB53-5DF959F1DE3C}" dt="2026-08-17T18:04:44.077" v="112"/>
          <pc:sldLayoutMkLst>
            <pc:docMk/>
            <pc:sldMasterMk cId="2745451976" sldId="2147484119"/>
            <pc:sldLayoutMk cId="1301587424" sldId="2147484120"/>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3610513089" sldId="2147484121"/>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2358082322" sldId="2147484122"/>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2448410529" sldId="2147484123"/>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3105328124" sldId="2147484124"/>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4046625006" sldId="2147484125"/>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1870129328" sldId="2147484126"/>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3575624645" sldId="2147484127"/>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3263172671" sldId="2147484128"/>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1511072043" sldId="2147484129"/>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2864312212" sldId="2147484130"/>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2717044538" sldId="2147484131"/>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1452765596" sldId="2147484132"/>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4019217697" sldId="2147484133"/>
          </pc:sldLayoutMkLst>
        </pc:sldLayoutChg>
        <pc:sldLayoutChg chg="del">
          <pc:chgData name="Irvine, Ryan" userId="9323ca53-6d86-4033-a7d1-8ca4b66fedb2" providerId="ADAL" clId="{6E4AD11E-AE7E-4E29-AB53-5DF959F1DE3C}" dt="2026-08-17T18:04:44.077" v="112"/>
          <pc:sldLayoutMkLst>
            <pc:docMk/>
            <pc:sldMasterMk cId="2745451976" sldId="2147484119"/>
            <pc:sldLayoutMk cId="3882254598" sldId="2147484134"/>
          </pc:sldLayoutMkLst>
        </pc:sldLayoutChg>
      </pc:sldMasterChg>
      <pc:sldMasterChg chg="del delSldLayout">
        <pc:chgData name="Irvine, Ryan" userId="9323ca53-6d86-4033-a7d1-8ca4b66fedb2" providerId="ADAL" clId="{6E4AD11E-AE7E-4E29-AB53-5DF959F1DE3C}" dt="2026-08-17T18:04:44.077" v="112"/>
        <pc:sldMasterMkLst>
          <pc:docMk/>
          <pc:sldMasterMk cId="3443887171" sldId="2147484136"/>
        </pc:sldMasterMkLst>
        <pc:sldLayoutChg chg="del">
          <pc:chgData name="Irvine, Ryan" userId="9323ca53-6d86-4033-a7d1-8ca4b66fedb2" providerId="ADAL" clId="{6E4AD11E-AE7E-4E29-AB53-5DF959F1DE3C}" dt="2026-08-17T18:04:44.077" v="112"/>
          <pc:sldLayoutMkLst>
            <pc:docMk/>
            <pc:sldMasterMk cId="3443887171" sldId="2147484136"/>
            <pc:sldLayoutMk cId="1525058362" sldId="214748413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17100324" sldId="214748413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045349019" sldId="214748413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803130908" sldId="214748414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544948642" sldId="214748414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25440257" sldId="214748414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685903172" sldId="214748414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429500825" sldId="214748414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061842881" sldId="214748414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803227525" sldId="214748414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242029346" sldId="214748414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72930168" sldId="214748414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714520774" sldId="214748414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317765453" sldId="214748415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591345479" sldId="214748415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202694420" sldId="214748415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79106732" sldId="214748415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832538686" sldId="214748415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515474755" sldId="214748415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533233806" sldId="214748415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88233021" sldId="214748415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4167140985" sldId="214748415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829819893" sldId="214748415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8597987" sldId="214748416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3783427" sldId="214748416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4545174" sldId="214748416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578466380" sldId="214748416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110823805" sldId="214748416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050183292" sldId="214748416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59247448" sldId="214748416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742909021" sldId="214748416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4250708497" sldId="214748416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78660351" sldId="214748416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799181356" sldId="214748417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25650964" sldId="214748417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215485929" sldId="214748417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983397266" sldId="214748417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099780137" sldId="214748417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88605608" sldId="214748417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4126649810" sldId="214748417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563485061" sldId="214748417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385987761" sldId="214748417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766147286" sldId="214748417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112538824" sldId="214748418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521807817" sldId="214748418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970873408" sldId="214748418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902698893" sldId="214748418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674452638" sldId="214748418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157624313" sldId="214748418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677770041" sldId="214748418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4132249161" sldId="214748418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728441291" sldId="214748418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600942764" sldId="214748418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440748092" sldId="214748419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261629506" sldId="214748419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499679609" sldId="214748419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223138176" sldId="214748419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543829839" sldId="214748419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504030475" sldId="214748419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922729699" sldId="214748419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929464515" sldId="214748419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553250923" sldId="214748419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414250495" sldId="214748419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515442161" sldId="214748420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216867147" sldId="214748420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844632561" sldId="214748420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641462920" sldId="214748420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94900903" sldId="214748420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081725562" sldId="214748420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703409394" sldId="214748420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732529825" sldId="214748420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018536081" sldId="214748420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330259269" sldId="214748420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046017401" sldId="2147484210"/>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14132300" sldId="2147484211"/>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4195429236" sldId="2147484212"/>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941278970" sldId="2147484213"/>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780209244" sldId="2147484214"/>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662215002" sldId="2147484215"/>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754656642" sldId="2147484216"/>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1151001913" sldId="2147484217"/>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477260483" sldId="2147484218"/>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3424637357" sldId="2147484219"/>
          </pc:sldLayoutMkLst>
        </pc:sldLayoutChg>
        <pc:sldLayoutChg chg="del">
          <pc:chgData name="Irvine, Ryan" userId="9323ca53-6d86-4033-a7d1-8ca4b66fedb2" providerId="ADAL" clId="{6E4AD11E-AE7E-4E29-AB53-5DF959F1DE3C}" dt="2026-08-17T18:04:44.077" v="112"/>
          <pc:sldLayoutMkLst>
            <pc:docMk/>
            <pc:sldMasterMk cId="3443887171" sldId="2147484136"/>
            <pc:sldLayoutMk cId="2020731370" sldId="2147484220"/>
          </pc:sldLayoutMkLst>
        </pc:sldLayoutChg>
      </pc:sldMasterChg>
      <pc:sldMasterChg chg="del delSldLayout">
        <pc:chgData name="Irvine, Ryan" userId="9323ca53-6d86-4033-a7d1-8ca4b66fedb2" providerId="ADAL" clId="{6E4AD11E-AE7E-4E29-AB53-5DF959F1DE3C}" dt="2026-08-17T18:04:44.077" v="112"/>
        <pc:sldMasterMkLst>
          <pc:docMk/>
          <pc:sldMasterMk cId="2733118750" sldId="2147484221"/>
        </pc:sldMasterMkLst>
        <pc:sldLayoutChg chg="del">
          <pc:chgData name="Irvine, Ryan" userId="9323ca53-6d86-4033-a7d1-8ca4b66fedb2" providerId="ADAL" clId="{6E4AD11E-AE7E-4E29-AB53-5DF959F1DE3C}" dt="2026-08-17T18:04:44.077" v="112"/>
          <pc:sldLayoutMkLst>
            <pc:docMk/>
            <pc:sldMasterMk cId="2733118750" sldId="2147484221"/>
            <pc:sldLayoutMk cId="354041575" sldId="2147484222"/>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54302816" sldId="2147484223"/>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809090595" sldId="2147484224"/>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171925565" sldId="2147484225"/>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862167858" sldId="2147484226"/>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926603061" sldId="2147484227"/>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4257431550" sldId="2147484228"/>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4151452443" sldId="2147484229"/>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891164140" sldId="2147484230"/>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82137033" sldId="2147484231"/>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756709480" sldId="2147484232"/>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231039248" sldId="2147484233"/>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110130151" sldId="2147484234"/>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810948494" sldId="2147484235"/>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823425837" sldId="2147484236"/>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013268349" sldId="2147484237"/>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220489092" sldId="2147484238"/>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154500571" sldId="2147484239"/>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89152678" sldId="2147484240"/>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976099366" sldId="2147484241"/>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289831980" sldId="2147484242"/>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77819377" sldId="2147484243"/>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625413753" sldId="2147484244"/>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384411762" sldId="2147484245"/>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355608169" sldId="2147484246"/>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624130811" sldId="2147484247"/>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273893450" sldId="2147484248"/>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983669340" sldId="2147484249"/>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629734088" sldId="2147484250"/>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744880770" sldId="2147484251"/>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669928495" sldId="2147484252"/>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775769154" sldId="2147484253"/>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025504339" sldId="2147484254"/>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131373062" sldId="2147484255"/>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744509339" sldId="2147484256"/>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353483350" sldId="2147484257"/>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259697458" sldId="2147484258"/>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652261060" sldId="2147484259"/>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212670501" sldId="2147484260"/>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177611156" sldId="2147484261"/>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468917603" sldId="2147484262"/>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3837575031" sldId="2147484263"/>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1458735754" sldId="2147484264"/>
          </pc:sldLayoutMkLst>
        </pc:sldLayoutChg>
        <pc:sldLayoutChg chg="del">
          <pc:chgData name="Irvine, Ryan" userId="9323ca53-6d86-4033-a7d1-8ca4b66fedb2" providerId="ADAL" clId="{6E4AD11E-AE7E-4E29-AB53-5DF959F1DE3C}" dt="2026-08-17T18:04:44.077" v="112"/>
          <pc:sldLayoutMkLst>
            <pc:docMk/>
            <pc:sldMasterMk cId="2733118750" sldId="2147484221"/>
            <pc:sldLayoutMk cId="2744795418" sldId="2147484265"/>
          </pc:sldLayoutMkLst>
        </pc:sldLayoutChg>
      </pc:sldMasterChg>
      <pc:sldMasterChg chg="del delSldLayout">
        <pc:chgData name="Irvine, Ryan" userId="9323ca53-6d86-4033-a7d1-8ca4b66fedb2" providerId="ADAL" clId="{6E4AD11E-AE7E-4E29-AB53-5DF959F1DE3C}" dt="2026-08-17T18:04:44.077" v="112"/>
        <pc:sldMasterMkLst>
          <pc:docMk/>
          <pc:sldMasterMk cId="2189807336" sldId="2147484500"/>
        </pc:sldMasterMkLst>
        <pc:sldLayoutChg chg="del">
          <pc:chgData name="Irvine, Ryan" userId="9323ca53-6d86-4033-a7d1-8ca4b66fedb2" providerId="ADAL" clId="{6E4AD11E-AE7E-4E29-AB53-5DF959F1DE3C}" dt="2026-08-17T18:04:44.077" v="112"/>
          <pc:sldLayoutMkLst>
            <pc:docMk/>
            <pc:sldMasterMk cId="2189807336" sldId="2147484500"/>
            <pc:sldLayoutMk cId="502745734" sldId="2147484501"/>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3055474917" sldId="2147484502"/>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387024160" sldId="2147484503"/>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731965012" sldId="2147484504"/>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3997074672" sldId="2147484505"/>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700173141" sldId="2147484506"/>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778700312" sldId="2147484507"/>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60224303" sldId="2147484508"/>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770797671" sldId="2147484509"/>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1778002801" sldId="2147484510"/>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461645577" sldId="2147484511"/>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2042007241" sldId="2147484512"/>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1105005504" sldId="2147484513"/>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404914672" sldId="2147484514"/>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494564047" sldId="2147484515"/>
          </pc:sldLayoutMkLst>
        </pc:sldLayoutChg>
        <pc:sldLayoutChg chg="del">
          <pc:chgData name="Irvine, Ryan" userId="9323ca53-6d86-4033-a7d1-8ca4b66fedb2" providerId="ADAL" clId="{6E4AD11E-AE7E-4E29-AB53-5DF959F1DE3C}" dt="2026-08-17T18:04:44.077" v="112"/>
          <pc:sldLayoutMkLst>
            <pc:docMk/>
            <pc:sldMasterMk cId="2189807336" sldId="2147484500"/>
            <pc:sldLayoutMk cId="4155750771" sldId="2147484516"/>
          </pc:sldLayoutMkLst>
        </pc:sldLayoutChg>
      </pc:sldMasterChg>
      <pc:sldMasterChg chg="del delSldLayout">
        <pc:chgData name="Irvine, Ryan" userId="9323ca53-6d86-4033-a7d1-8ca4b66fedb2" providerId="ADAL" clId="{6E4AD11E-AE7E-4E29-AB53-5DF959F1DE3C}" dt="2026-08-17T18:04:44.077" v="112"/>
        <pc:sldMasterMkLst>
          <pc:docMk/>
          <pc:sldMasterMk cId="1806079918" sldId="2147484518"/>
        </pc:sldMasterMkLst>
        <pc:sldLayoutChg chg="del">
          <pc:chgData name="Irvine, Ryan" userId="9323ca53-6d86-4033-a7d1-8ca4b66fedb2" providerId="ADAL" clId="{6E4AD11E-AE7E-4E29-AB53-5DF959F1DE3C}" dt="2026-08-17T18:04:44.077" v="112"/>
          <pc:sldLayoutMkLst>
            <pc:docMk/>
            <pc:sldMasterMk cId="1806079918" sldId="2147484518"/>
            <pc:sldLayoutMk cId="4125276858" sldId="214748451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635021577" sldId="214748452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016180970" sldId="2147484521"/>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947783511" sldId="2147484522"/>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4144034200" sldId="2147484523"/>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662959378" sldId="2147484524"/>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729714111" sldId="2147484525"/>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771181422" sldId="2147484526"/>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895050006" sldId="2147484527"/>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054838905" sldId="2147484528"/>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93476702" sldId="214748452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642775861" sldId="214748453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775833018" sldId="2147484531"/>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272434768" sldId="2147484532"/>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051046565" sldId="2147484533"/>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485122279" sldId="2147484534"/>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53110205" sldId="2147484535"/>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041394333" sldId="2147484536"/>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406301086" sldId="2147484537"/>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890704041" sldId="2147484538"/>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988386853" sldId="214748453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4243486859" sldId="214748454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4075547172" sldId="2147484541"/>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945526554" sldId="2147484542"/>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91838622" sldId="2147484543"/>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719048999" sldId="2147484544"/>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034545942" sldId="2147484545"/>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373185505" sldId="2147484546"/>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709956864" sldId="2147484547"/>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192614319" sldId="2147484548"/>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062217913" sldId="214748454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07258258" sldId="214748455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626766415" sldId="2147484551"/>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811868392" sldId="2147484552"/>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774522018" sldId="2147484553"/>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52865750" sldId="2147484554"/>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203690476" sldId="2147484555"/>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066386507" sldId="2147484556"/>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669658421" sldId="2147484557"/>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910317637" sldId="2147484558"/>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506094994" sldId="214748455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431636775" sldId="214748456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807142787" sldId="2147484561"/>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1192233129" sldId="2147484562"/>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902804831" sldId="2147484563"/>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716970020" sldId="2147484564"/>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558569353" sldId="2147484565"/>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705241040" sldId="2147484566"/>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2133932197" sldId="2147484567"/>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702408607" sldId="2147484568"/>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580077326" sldId="2147484569"/>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517602096" sldId="2147484570"/>
          </pc:sldLayoutMkLst>
        </pc:sldLayoutChg>
        <pc:sldLayoutChg chg="del">
          <pc:chgData name="Irvine, Ryan" userId="9323ca53-6d86-4033-a7d1-8ca4b66fedb2" providerId="ADAL" clId="{6E4AD11E-AE7E-4E29-AB53-5DF959F1DE3C}" dt="2026-08-17T18:04:44.077" v="112"/>
          <pc:sldLayoutMkLst>
            <pc:docMk/>
            <pc:sldMasterMk cId="1806079918" sldId="2147484518"/>
            <pc:sldLayoutMk cId="3477346431" sldId="2147484571"/>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B92D82-DD40-D190-F54F-73108D65B2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C9E0809-0579-ECA6-B959-83DBE12C0B6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CBCD86-B713-46CA-855A-96E09A86158B}" type="datetimeFigureOut">
              <a:rPr lang="en-US" smtClean="0"/>
              <a:t>8/17/2026</a:t>
            </a:fld>
            <a:endParaRPr lang="en-US"/>
          </a:p>
        </p:txBody>
      </p:sp>
      <p:sp>
        <p:nvSpPr>
          <p:cNvPr id="4" name="Footer Placeholder 3">
            <a:extLst>
              <a:ext uri="{FF2B5EF4-FFF2-40B4-BE49-F238E27FC236}">
                <a16:creationId xmlns:a16="http://schemas.microsoft.com/office/drawing/2014/main" id="{8ECD8669-4E51-2EFA-E666-C87EE30C5E8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2E943E8-C6D3-67AB-30DA-74F58FCD73A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804C4-C26C-419B-A2EE-B336490484AA}" type="slidenum">
              <a:rPr lang="en-US" smtClean="0"/>
              <a:t>‹#›</a:t>
            </a:fld>
            <a:endParaRPr lang="en-US"/>
          </a:p>
        </p:txBody>
      </p:sp>
    </p:spTree>
    <p:extLst>
      <p:ext uri="{BB962C8B-B14F-4D97-AF65-F5344CB8AC3E}">
        <p14:creationId xmlns:p14="http://schemas.microsoft.com/office/powerpoint/2010/main" val="3205842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046AC-EED7-41FA-BDCA-83492A3F0D00}"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1F7A6-E4FD-484E-8613-78401007607F}" type="slidenum">
              <a:rPr lang="en-US" smtClean="0"/>
              <a:t>‹#›</a:t>
            </a:fld>
            <a:endParaRPr lang="en-US"/>
          </a:p>
        </p:txBody>
      </p:sp>
    </p:spTree>
    <p:extLst>
      <p:ext uri="{BB962C8B-B14F-4D97-AF65-F5344CB8AC3E}">
        <p14:creationId xmlns:p14="http://schemas.microsoft.com/office/powerpoint/2010/main" val="99692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4.svg"/><Relationship Id="rId5" Type="http://schemas.openxmlformats.org/officeDocument/2006/relationships/image" Target="../media/image3.emf"/><Relationship Id="rId4" Type="http://schemas.openxmlformats.org/officeDocument/2006/relationships/oleObject" Target="../embeddings/oleObject1.bin"/></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12.png"/><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image" Target="../media/image11.png"/><Relationship Id="rId5" Type="http://schemas.openxmlformats.org/officeDocument/2006/relationships/image" Target="../media/image10.emf"/><Relationship Id="rId4" Type="http://schemas.openxmlformats.org/officeDocument/2006/relationships/oleObject" Target="../embeddings/oleObject3.bin"/></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15.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2582688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294018112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11330877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50215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8463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0303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4552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398979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524251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779214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476416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8019417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9501233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8384984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2607929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0129817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77285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4196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88983148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6318286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17854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6677353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379761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1554368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43754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453250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712076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677383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262776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0153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546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8986428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4185737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95643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9823703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50775087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381104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8943223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83203"/>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B10C90B1-4A2A-4756-A976-A1F4FE54692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96825565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79" y="540211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5730225"/>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5" y="6508319"/>
            <a:ext cx="12192000" cy="280108"/>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00000"/>
              </a:lnSpc>
              <a:spcBef>
                <a:spcPts val="0"/>
              </a:spcBef>
              <a:buNone/>
            </a:pPr>
            <a:r>
              <a:rPr lang="en-US" sz="800" dirty="0">
                <a:latin typeface="Montserrat" pitchFamily="2" charset="77"/>
              </a:rPr>
              <a:t>© 2025 Organon group of companies. All rights reserved. ORGANON and the ORGANON Logo are trademarks of the Organon group of companies.					                     </a:t>
            </a:r>
          </a:p>
          <a:p>
            <a:pPr marL="0" indent="0">
              <a:lnSpc>
                <a:spcPct val="100000"/>
              </a:lnSpc>
              <a:spcBef>
                <a:spcPts val="0"/>
              </a:spcBef>
              <a:buNone/>
            </a:pPr>
            <a:r>
              <a:rPr lang="en-US" sz="800" dirty="0">
                <a:latin typeface="Montserrat" pitchFamily="2" charset="77"/>
              </a:rPr>
              <a:t>US-NON-111219     09/25</a:t>
            </a:r>
            <a:br>
              <a:rPr lang="en-US" sz="800" dirty="0">
                <a:latin typeface="Montserrat" pitchFamily="2" charset="77"/>
              </a:rPr>
            </a:br>
            <a:endParaRPr lang="en-US" sz="800" dirty="0">
              <a:latin typeface="Montserrat" pitchFamily="2" charset="77"/>
            </a:endParaRPr>
          </a:p>
        </p:txBody>
      </p:sp>
    </p:spTree>
    <p:extLst>
      <p:ext uri="{BB962C8B-B14F-4D97-AF65-F5344CB8AC3E}">
        <p14:creationId xmlns:p14="http://schemas.microsoft.com/office/powerpoint/2010/main" val="34345345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202749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1_Divider Slide">
    <p:spTree>
      <p:nvGrpSpPr>
        <p:cNvPr id="1" name=""/>
        <p:cNvGrpSpPr/>
        <p:nvPr/>
      </p:nvGrpSpPr>
      <p:grpSpPr>
        <a:xfrm>
          <a:off x="0" y="0"/>
          <a:ext cx="0" cy="0"/>
          <a:chOff x="0" y="0"/>
          <a:chExt cx="0" cy="0"/>
        </a:xfrm>
      </p:grpSpPr>
      <p:graphicFrame>
        <p:nvGraphicFramePr>
          <p:cNvPr id="19" name="Object 18" hidden="1"/>
          <p:cNvGraphicFramePr>
            <a:graphicFrameLocks noChangeAspect="1"/>
          </p:cNvGraphicFramePr>
          <p:nvPr userDrawn="1">
            <p:custDataLst>
              <p:tags r:id="rId1"/>
            </p:custDataLst>
            <p:extLst>
              <p:ext uri="{D42A27DB-BD31-4B8C-83A1-F6EECF244321}">
                <p14:modId xmlns:p14="http://schemas.microsoft.com/office/powerpoint/2010/main" val="44670761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9" name="Object 18" hidden="1"/>
                      <p:cNvPicPr/>
                      <p:nvPr/>
                    </p:nvPicPr>
                    <p:blipFill>
                      <a:blip r:embed="rId5"/>
                      <a:stretch>
                        <a:fillRect/>
                      </a:stretch>
                    </p:blipFill>
                    <p:spPr>
                      <a:xfrm>
                        <a:off x="2119" y="2119"/>
                        <a:ext cx="2117" cy="2117"/>
                      </a:xfrm>
                      <a:prstGeom prst="rect">
                        <a:avLst/>
                      </a:prstGeom>
                    </p:spPr>
                  </p:pic>
                </p:oleObj>
              </mc:Fallback>
            </mc:AlternateContent>
          </a:graphicData>
        </a:graphic>
      </p:graphicFrame>
      <p:sp>
        <p:nvSpPr>
          <p:cNvPr id="18" name="Rectangle 17"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3733" b="1" i="0" u="none" strike="noStrike" kern="1200" cap="none" spc="0" normalizeH="0" baseline="0" noProof="0">
              <a:ln>
                <a:noFill/>
              </a:ln>
              <a:solidFill>
                <a:srgbClr val="FFFFFF"/>
              </a:solidFill>
              <a:effectLst/>
              <a:uLnTx/>
              <a:uFillTx/>
              <a:latin typeface="+mn-lt"/>
              <a:ea typeface="+mn-ea"/>
              <a:cs typeface="+mn-cs"/>
              <a:sym typeface="Montserrat" panose="00000500000000000000" pitchFamily="2" charset="0"/>
            </a:endParaRPr>
          </a:p>
        </p:txBody>
      </p:sp>
      <p:grpSp>
        <p:nvGrpSpPr>
          <p:cNvPr id="17" name="Group 16"/>
          <p:cNvGrpSpPr/>
          <p:nvPr userDrawn="1"/>
        </p:nvGrpSpPr>
        <p:grpSpPr>
          <a:xfrm>
            <a:off x="2" y="0"/>
            <a:ext cx="11251473" cy="6551253"/>
            <a:chOff x="0" y="0"/>
            <a:chExt cx="8438605" cy="4913440"/>
          </a:xfrm>
        </p:grpSpPr>
        <p:sp>
          <p:nvSpPr>
            <p:cNvPr id="14" name="Oval 13">
              <a:extLst>
                <a:ext uri="{FF2B5EF4-FFF2-40B4-BE49-F238E27FC236}">
                  <a16:creationId xmlns:a16="http://schemas.microsoft.com/office/drawing/2014/main" id="{00E93B47-1235-C54B-81D2-D02E94505843}"/>
                </a:ext>
              </a:extLst>
            </p:cNvPr>
            <p:cNvSpPr/>
            <p:nvPr userDrawn="1"/>
          </p:nvSpPr>
          <p:spPr>
            <a:xfrm>
              <a:off x="2127485" y="4231469"/>
              <a:ext cx="681971" cy="681971"/>
            </a:xfrm>
            <a:prstGeom prst="ellipse">
              <a:avLst/>
            </a:prstGeom>
            <a:solidFill>
              <a:srgbClr val="54B948"/>
            </a:solidFill>
            <a:ln w="12700" cap="flat" cmpd="sng" algn="ctr">
              <a:noFill/>
              <a:prstDash val="solid"/>
              <a:miter lim="800000"/>
            </a:ln>
            <a:effectLst/>
          </p:spPr>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5" name="Freeform 14">
              <a:extLst>
                <a:ext uri="{FF2B5EF4-FFF2-40B4-BE49-F238E27FC236}">
                  <a16:creationId xmlns:a16="http://schemas.microsoft.com/office/drawing/2014/main" id="{74AFD015-0D1F-3547-8CF1-90942E7ACF2E}"/>
                </a:ext>
              </a:extLst>
            </p:cNvPr>
            <p:cNvSpPr/>
            <p:nvPr userDrawn="1"/>
          </p:nvSpPr>
          <p:spPr>
            <a:xfrm>
              <a:off x="7756633" y="0"/>
              <a:ext cx="681972" cy="351638"/>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rgbClr val="1B4198"/>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6" name="Freeform 15">
              <a:extLst>
                <a:ext uri="{FF2B5EF4-FFF2-40B4-BE49-F238E27FC236}">
                  <a16:creationId xmlns:a16="http://schemas.microsoft.com/office/drawing/2014/main" id="{B74D8618-1342-4C42-94BD-C150DF3C1928}"/>
                </a:ext>
              </a:extLst>
            </p:cNvPr>
            <p:cNvSpPr/>
            <p:nvPr userDrawn="1"/>
          </p:nvSpPr>
          <p:spPr>
            <a:xfrm>
              <a:off x="0" y="1421025"/>
              <a:ext cx="1408542" cy="681972"/>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rgbClr val="E20177"/>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grpSp>
      <p:sp>
        <p:nvSpPr>
          <p:cNvPr id="12" name="Date Placeholder 2"/>
          <p:cNvSpPr>
            <a:spLocks noGrp="1"/>
          </p:cNvSpPr>
          <p:nvPr>
            <p:ph type="dt" sz="half" idx="10"/>
          </p:nvPr>
        </p:nvSpPr>
        <p:spPr>
          <a:xfrm>
            <a:off x="8336281" y="6514010"/>
            <a:ext cx="1482051" cy="123111"/>
          </a:xfrm>
          <a:prstGeom prst="rect">
            <a:avLst/>
          </a:prstGeom>
        </p:spPr>
        <p:txBody>
          <a:bodyPr/>
          <a:lstStyle>
            <a:lvl1pPr>
              <a:defRPr sz="800">
                <a:solidFill>
                  <a:schemeClr val="bg1"/>
                </a:solidFill>
                <a:latin typeface="+mn-lt"/>
                <a:ea typeface="+mn-ea"/>
                <a:cs typeface="+mn-cs"/>
                <a:sym typeface="+mn-lt"/>
              </a:defRPr>
            </a:lvl1pPr>
          </a:lstStyle>
          <a:p>
            <a:endParaRPr lang="en-US">
              <a:solidFill>
                <a:srgbClr val="FFFFFF"/>
              </a:solidFill>
            </a:endParaRPr>
          </a:p>
        </p:txBody>
      </p:sp>
      <p:sp>
        <p:nvSpPr>
          <p:cNvPr id="2" name="Title 1"/>
          <p:cNvSpPr>
            <a:spLocks noGrp="1"/>
          </p:cNvSpPr>
          <p:nvPr>
            <p:ph type="title"/>
          </p:nvPr>
        </p:nvSpPr>
        <p:spPr>
          <a:xfrm>
            <a:off x="460464" y="2897304"/>
            <a:ext cx="10515600" cy="985648"/>
          </a:xfrm>
        </p:spPr>
        <p:txBody>
          <a:bodyPr vert="horz"/>
          <a:lstStyle>
            <a:lvl1pPr>
              <a:defRPr sz="3600" b="1">
                <a:latin typeface="+mj-lt"/>
                <a:ea typeface="+mj-ea"/>
                <a:cs typeface="+mj-cs"/>
              </a:defRPr>
            </a:lvl1pPr>
          </a:lstStyle>
          <a:p>
            <a:r>
              <a:rPr lang="en-US"/>
              <a:t>Click to edit Master title style</a:t>
            </a:r>
          </a:p>
        </p:txBody>
      </p:sp>
      <p:sp>
        <p:nvSpPr>
          <p:cNvPr id="23" name="Text Placeholder 22"/>
          <p:cNvSpPr>
            <a:spLocks noGrp="1"/>
          </p:cNvSpPr>
          <p:nvPr>
            <p:ph type="body" sz="quarter" idx="11"/>
          </p:nvPr>
        </p:nvSpPr>
        <p:spPr>
          <a:xfrm>
            <a:off x="457200" y="4025416"/>
            <a:ext cx="10538293" cy="684208"/>
          </a:xfrm>
        </p:spPr>
        <p:txBody>
          <a:bodyPr/>
          <a:lstStyle>
            <a:lvl1pPr>
              <a:defRPr sz="2800" b="0">
                <a:latin typeface="+mn-lt"/>
                <a:ea typeface="+mn-ea"/>
                <a:cs typeface="+mn-cs"/>
              </a:defRPr>
            </a:lvl1pPr>
          </a:lstStyle>
          <a:p>
            <a:pPr lvl="0"/>
            <a:r>
              <a:rPr lang="en-US"/>
              <a:t>Click to edit Master text styles</a:t>
            </a:r>
          </a:p>
        </p:txBody>
      </p:sp>
      <p:pic>
        <p:nvPicPr>
          <p:cNvPr id="20" name="Graphic 9">
            <a:extLst>
              <a:ext uri="{FF2B5EF4-FFF2-40B4-BE49-F238E27FC236}">
                <a16:creationId xmlns:a16="http://schemas.microsoft.com/office/drawing/2014/main" id="{D3FE0F32-6A39-2143-8C31-4818256ECAE7}"/>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544688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61"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3"/>
            <a:ext cx="1783080" cy="369195"/>
          </a:xfrm>
          <a:prstGeom prst="rect">
            <a:avLst/>
          </a:prstGeom>
        </p:spPr>
      </p:pic>
    </p:spTree>
    <p:extLst>
      <p:ext uri="{BB962C8B-B14F-4D97-AF65-F5344CB8AC3E}">
        <p14:creationId xmlns:p14="http://schemas.microsoft.com/office/powerpoint/2010/main" val="36037157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632282"/>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39870"/>
            <a:ext cx="6588376" cy="5169844"/>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Tree>
    <p:extLst>
      <p:ext uri="{BB962C8B-B14F-4D97-AF65-F5344CB8AC3E}">
        <p14:creationId xmlns:p14="http://schemas.microsoft.com/office/powerpoint/2010/main" val="14319547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40198"/>
            <a:ext cx="6546455" cy="5177605"/>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729318"/>
            <a:ext cx="4518121" cy="3399367"/>
          </a:xfrm>
        </p:spPr>
        <p:txBody>
          <a:bodyPr anchor="ctr">
            <a:normAutofit/>
          </a:bodyPr>
          <a:lstStyle>
            <a:lvl1pPr>
              <a:defRPr sz="3733"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78910023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25033168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123532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8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1824562"/>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1824562"/>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1824562"/>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1824562"/>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932822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Title and Content_Black Box">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11C37-3CCB-744D-90B5-2725D97809BA}"/>
              </a:ext>
            </a:extLst>
          </p:cNvPr>
          <p:cNvSpPr>
            <a:spLocks noGrp="1"/>
          </p:cNvSpPr>
          <p:nvPr>
            <p:ph type="title"/>
          </p:nvPr>
        </p:nvSpPr>
        <p:spPr>
          <a:xfrm>
            <a:off x="685800" y="1343892"/>
            <a:ext cx="3373582" cy="990105"/>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BE40B1A-49F3-144D-9C0E-D5201105EA7C}"/>
              </a:ext>
            </a:extLst>
          </p:cNvPr>
          <p:cNvSpPr>
            <a:spLocks noGrp="1"/>
          </p:cNvSpPr>
          <p:nvPr>
            <p:ph type="sldNum" sz="quarter" idx="10"/>
          </p:nvPr>
        </p:nvSpPr>
        <p:spPr/>
        <p:txBody>
          <a:bodyPr/>
          <a:lstStyle/>
          <a:p>
            <a:fld id="{B8E368AD-AC3A-8448-81E7-9702A1829AC4}" type="slidenum">
              <a:rPr lang="en-US" smtClean="0"/>
              <a:pPr/>
              <a:t>‹#›</a:t>
            </a:fld>
            <a:endParaRPr lang="en-US"/>
          </a:p>
        </p:txBody>
      </p:sp>
      <p:sp>
        <p:nvSpPr>
          <p:cNvPr id="5" name="Rectangle 4">
            <a:extLst>
              <a:ext uri="{FF2B5EF4-FFF2-40B4-BE49-F238E27FC236}">
                <a16:creationId xmlns:a16="http://schemas.microsoft.com/office/drawing/2014/main" id="{A73BFE50-A81A-AB46-A7A2-9666CFCFCC92}"/>
              </a:ext>
            </a:extLst>
          </p:cNvPr>
          <p:cNvSpPr/>
          <p:nvPr userDrawn="1"/>
        </p:nvSpPr>
        <p:spPr>
          <a:xfrm>
            <a:off x="4504267" y="658812"/>
            <a:ext cx="7687733" cy="55895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
        <p:nvSpPr>
          <p:cNvPr id="8" name="Text Placeholder 7">
            <a:extLst>
              <a:ext uri="{FF2B5EF4-FFF2-40B4-BE49-F238E27FC236}">
                <a16:creationId xmlns:a16="http://schemas.microsoft.com/office/drawing/2014/main" id="{404CE58A-1238-494D-8A79-4A58EDE3984D}"/>
              </a:ext>
            </a:extLst>
          </p:cNvPr>
          <p:cNvSpPr>
            <a:spLocks noGrp="1"/>
          </p:cNvSpPr>
          <p:nvPr>
            <p:ph type="body" sz="quarter" idx="12"/>
          </p:nvPr>
        </p:nvSpPr>
        <p:spPr>
          <a:xfrm>
            <a:off x="685800" y="2714626"/>
            <a:ext cx="3373438" cy="3533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4A8B4FD5-364F-1749-8E54-56046D878350}"/>
              </a:ext>
            </a:extLst>
          </p:cNvPr>
          <p:cNvSpPr>
            <a:spLocks noGrp="1"/>
          </p:cNvSpPr>
          <p:nvPr>
            <p:ph type="body" sz="quarter" idx="13"/>
          </p:nvPr>
        </p:nvSpPr>
        <p:spPr>
          <a:xfrm>
            <a:off x="5278582" y="1343892"/>
            <a:ext cx="6227618" cy="43780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A9FBDEC-2CAC-954E-AA5E-6D9A9B7E87CC}"/>
              </a:ext>
            </a:extLst>
          </p:cNvPr>
          <p:cNvSpPr/>
          <p:nvPr userDrawn="1"/>
        </p:nvSpPr>
        <p:spPr>
          <a:xfrm>
            <a:off x="8474601" y="6445628"/>
            <a:ext cx="3031599" cy="230832"/>
          </a:xfrm>
          <a:prstGeom prst="rect">
            <a:avLst/>
          </a:prstGeom>
        </p:spPr>
        <p:txBody>
          <a:bodyPr wrap="none" lIns="0" tIns="0" rIns="0" bIns="0" anchor="ctr">
            <a:noAutofit/>
          </a:bodyPr>
          <a:lstStyle/>
          <a:p>
            <a:pPr algn="r"/>
            <a:r>
              <a:rPr lang="en-US" sz="800" b="0" i="0">
                <a:solidFill>
                  <a:schemeClr val="tx1"/>
                </a:solidFill>
                <a:latin typeface="Arial" panose="020B0604020202020204" pitchFamily="34" charset="0"/>
                <a:cs typeface="Arial" panose="020B0604020202020204" pitchFamily="34" charset="0"/>
              </a:rPr>
              <a:t>Proprietary and Confidential Property of Real Chemistry</a:t>
            </a:r>
          </a:p>
        </p:txBody>
      </p:sp>
    </p:spTree>
    <p:extLst>
      <p:ext uri="{BB962C8B-B14F-4D97-AF65-F5344CB8AC3E}">
        <p14:creationId xmlns:p14="http://schemas.microsoft.com/office/powerpoint/2010/main" val="191533142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9698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13636927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22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85EA0C90-6E04-9519-5664-EFB413590A8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8948282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2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E4AFAC3-CC8F-D620-D3F2-0956FFB0785B}"/>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12332403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24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5BD8FD2E-E77A-C383-302D-74387880AAE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54305438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5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D2D04CF8-85CD-B3A2-619B-72A28CC9D9BD}"/>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482110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26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7BD4CE0-6B80-ECF8-CC61-9423ABA248C5}"/>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406513002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27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2" name="Picture 1" descr="A close-up of a logo&#10;&#10;Description automatically generated">
            <a:extLst>
              <a:ext uri="{FF2B5EF4-FFF2-40B4-BE49-F238E27FC236}">
                <a16:creationId xmlns:a16="http://schemas.microsoft.com/office/drawing/2014/main" id="{938C2D30-4F3F-7BD2-E701-5C0FE5D3BD64}"/>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709214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userDrawn="1"/>
        </p:nvSpPr>
        <p:spPr>
          <a:xfrm>
            <a:off x="4686531" y="8875"/>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p:spPr>
        <p:txBody>
          <a:bodyPr lIns="0" tIns="0" rIns="0" bIns="0"/>
          <a:lstStyle>
            <a:lvl1pPr marL="0" indent="0" algn="l">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pic>
        <p:nvPicPr>
          <p:cNvPr id="12" name="Graphic 11">
            <a:extLst>
              <a:ext uri="{FF2B5EF4-FFF2-40B4-BE49-F238E27FC236}">
                <a16:creationId xmlns:a16="http://schemas.microsoft.com/office/drawing/2014/main" id="{1FE1D59E-B23B-EB40-95E5-ED140B58937A}"/>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4569359" y="6159979"/>
            <a:ext cx="3070917" cy="508431"/>
          </a:xfrm>
          <a:prstGeom prst="rect">
            <a:avLst/>
          </a:prstGeom>
        </p:spPr>
      </p:pic>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p:spPr>
        <p:txBody>
          <a:bodyPr lIns="0" tIns="0" rIns="0" bIns="0" anchor="b"/>
          <a:lstStyle>
            <a:lvl1pPr algn="l">
              <a:defRPr sz="4267"/>
            </a:lvl1pPr>
          </a:lstStyle>
          <a:p>
            <a:r>
              <a:rPr lang="en-US"/>
              <a:t>Click to edit Master title style</a:t>
            </a:r>
          </a:p>
        </p:txBody>
      </p:sp>
    </p:spTree>
    <p:extLst>
      <p:ext uri="{BB962C8B-B14F-4D97-AF65-F5344CB8AC3E}">
        <p14:creationId xmlns:p14="http://schemas.microsoft.com/office/powerpoint/2010/main" val="1010419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8324AB91-2D33-CDCF-ADEE-A4EE075DB5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3011256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3021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6820399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0" name="Rectangle 19">
            <a:extLst>
              <a:ext uri="{FF2B5EF4-FFF2-40B4-BE49-F238E27FC236}">
                <a16:creationId xmlns:a16="http://schemas.microsoft.com/office/drawing/2014/main" id="{3FEA7481-30F1-CC4D-A84F-2128B87986F5}"/>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bjClassifierImageBottom">
            <a:extLst>
              <a:ext uri="{FF2B5EF4-FFF2-40B4-BE49-F238E27FC236}">
                <a16:creationId xmlns:a16="http://schemas.microsoft.com/office/drawing/2014/main" id="{1D8990EA-8C96-4A40-B1FD-742FC607AD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133767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9" name="Group 8">
            <a:extLst>
              <a:ext uri="{FF2B5EF4-FFF2-40B4-BE49-F238E27FC236}">
                <a16:creationId xmlns:a16="http://schemas.microsoft.com/office/drawing/2014/main" id="{235E8CC7-D4EC-D441-8699-AB07804E984E}"/>
              </a:ext>
            </a:extLst>
          </p:cNvPr>
          <p:cNvGrpSpPr/>
          <p:nvPr userDrawn="1"/>
        </p:nvGrpSpPr>
        <p:grpSpPr>
          <a:xfrm>
            <a:off x="418835" y="6436346"/>
            <a:ext cx="1155965" cy="299525"/>
            <a:chOff x="326826" y="4827265"/>
            <a:chExt cx="866974" cy="224644"/>
          </a:xfrm>
        </p:grpSpPr>
        <p:grpSp>
          <p:nvGrpSpPr>
            <p:cNvPr id="10" name="Group 9">
              <a:extLst>
                <a:ext uri="{FF2B5EF4-FFF2-40B4-BE49-F238E27FC236}">
                  <a16:creationId xmlns:a16="http://schemas.microsoft.com/office/drawing/2014/main" id="{206DCB4D-AC9D-1A4B-A216-E63CF093D9C7}"/>
                </a:ext>
              </a:extLst>
            </p:cNvPr>
            <p:cNvGrpSpPr/>
            <p:nvPr userDrawn="1"/>
          </p:nvGrpSpPr>
          <p:grpSpPr>
            <a:xfrm>
              <a:off x="326826" y="4827265"/>
              <a:ext cx="241691" cy="224644"/>
              <a:chOff x="387151" y="4122415"/>
              <a:chExt cx="241691" cy="224644"/>
            </a:xfrm>
          </p:grpSpPr>
          <p:sp>
            <p:nvSpPr>
              <p:cNvPr id="12" name="Triangle 11">
                <a:extLst>
                  <a:ext uri="{FF2B5EF4-FFF2-40B4-BE49-F238E27FC236}">
                    <a16:creationId xmlns:a16="http://schemas.microsoft.com/office/drawing/2014/main" id="{753E3630-3FBE-6E4C-8743-7FC846DE057D}"/>
                  </a:ext>
                </a:extLst>
              </p:cNvPr>
              <p:cNvSpPr/>
              <p:nvPr userDrawn="1"/>
            </p:nvSpPr>
            <p:spPr>
              <a:xfrm>
                <a:off x="415727" y="4122415"/>
                <a:ext cx="203591" cy="215444"/>
              </a:xfrm>
              <a:prstGeom prs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3" name="TextBox 12">
                <a:extLst>
                  <a:ext uri="{FF2B5EF4-FFF2-40B4-BE49-F238E27FC236}">
                    <a16:creationId xmlns:a16="http://schemas.microsoft.com/office/drawing/2014/main" id="{1CEAEB9D-7ED7-2B40-9B9C-B5B10400E564}"/>
                  </a:ext>
                </a:extLst>
              </p:cNvPr>
              <p:cNvSpPr txBox="1"/>
              <p:nvPr userDrawn="1"/>
            </p:nvSpPr>
            <p:spPr>
              <a:xfrm>
                <a:off x="387151" y="4154650"/>
                <a:ext cx="241691" cy="192409"/>
              </a:xfrm>
              <a:prstGeom prst="rect">
                <a:avLst/>
              </a:prstGeom>
              <a:noFill/>
            </p:spPr>
            <p:txBody>
              <a:bodyPr wrap="square"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1067" b="1" i="0">
                    <a:latin typeface="Arial Black" panose="020B0604020202020204" pitchFamily="34" charset="0"/>
                    <a:cs typeface="Arial Black" panose="020B0604020202020204" pitchFamily="34" charset="0"/>
                  </a:rPr>
                  <a:t>C</a:t>
                </a:r>
                <a:endParaRPr lang="en-US" sz="2400"/>
              </a:p>
            </p:txBody>
          </p:sp>
        </p:grpSp>
        <p:sp>
          <p:nvSpPr>
            <p:cNvPr id="11" name="TextBox 10">
              <a:extLst>
                <a:ext uri="{FF2B5EF4-FFF2-40B4-BE49-F238E27FC236}">
                  <a16:creationId xmlns:a16="http://schemas.microsoft.com/office/drawing/2014/main" id="{C3B01DB8-B751-024D-89C1-60E454AEDC32}"/>
                </a:ext>
              </a:extLst>
            </p:cNvPr>
            <p:cNvSpPr txBox="1"/>
            <p:nvPr userDrawn="1"/>
          </p:nvSpPr>
          <p:spPr>
            <a:xfrm>
              <a:off x="558601" y="4929481"/>
              <a:ext cx="635199" cy="70741"/>
            </a:xfrm>
            <a:prstGeom prst="rect">
              <a:avLst/>
            </a:prstGeom>
            <a:noFill/>
          </p:spPr>
          <p:txBody>
            <a:bodyPr wrap="square" lIns="0" tIns="0" rIns="0" bIns="0"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613" b="1" i="0">
                  <a:solidFill>
                    <a:schemeClr val="tx2"/>
                  </a:solidFill>
                  <a:latin typeface="Arial" panose="020B0604020202020204" pitchFamily="34" charset="0"/>
                  <a:cs typeface="Arial" panose="020B0604020202020204" pitchFamily="34" charset="0"/>
                </a:rPr>
                <a:t>Confidential</a:t>
              </a:r>
            </a:p>
          </p:txBody>
        </p:sp>
      </p:gr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pic>
        <p:nvPicPr>
          <p:cNvPr id="37" name="bjClassifierImageBottom">
            <a:extLst>
              <a:ext uri="{FF2B5EF4-FFF2-40B4-BE49-F238E27FC236}">
                <a16:creationId xmlns:a16="http://schemas.microsoft.com/office/drawing/2014/main" id="{D687813F-9E5F-4ECA-87CC-814169C268E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14436444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5" name="Freeform 14">
            <a:extLst>
              <a:ext uri="{FF2B5EF4-FFF2-40B4-BE49-F238E27FC236}">
                <a16:creationId xmlns:a16="http://schemas.microsoft.com/office/drawing/2014/main" id="{A034FCA3-B9CF-4A46-902A-DE88D9E5DFD3}"/>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57B04881-B00D-4BBF-A6CB-22548AB0299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5226310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8" name="Graphic 7">
            <a:extLst>
              <a:ext uri="{FF2B5EF4-FFF2-40B4-BE49-F238E27FC236}">
                <a16:creationId xmlns:a16="http://schemas.microsoft.com/office/drawing/2014/main" id="{8DADC014-5FFE-4A38-82B3-BE10256E645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3623514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4140863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25356831-4BEB-44F2-9E65-83FD3050DF92}"/>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53261091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D21BF3C7-DC6B-4A9C-9ED7-05041694A53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86605010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15" name="Rectangle 14">
            <a:extLst>
              <a:ext uri="{FF2B5EF4-FFF2-40B4-BE49-F238E27FC236}">
                <a16:creationId xmlns:a16="http://schemas.microsoft.com/office/drawing/2014/main" id="{7869CE8E-457C-2B44-A3C4-2AA4AC6914BD}"/>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61" name="bjClassifierImageBottom">
            <a:extLst>
              <a:ext uri="{FF2B5EF4-FFF2-40B4-BE49-F238E27FC236}">
                <a16:creationId xmlns:a16="http://schemas.microsoft.com/office/drawing/2014/main" id="{317AD571-EA60-4A5D-8750-0938782DCEF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3361727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36E84A54-8981-4009-9FA8-E3B728371F4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5171598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32077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3" name="Rectangle 12">
            <a:extLst>
              <a:ext uri="{FF2B5EF4-FFF2-40B4-BE49-F238E27FC236}">
                <a16:creationId xmlns:a16="http://schemas.microsoft.com/office/drawing/2014/main" id="{2AB84457-27C7-B64B-B70A-AFA54AC59C9A}"/>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4" name="Graphic 23">
            <a:extLst>
              <a:ext uri="{FF2B5EF4-FFF2-40B4-BE49-F238E27FC236}">
                <a16:creationId xmlns:a16="http://schemas.microsoft.com/office/drawing/2014/main" id="{14B9BF78-85C2-6B49-B262-FE4EC24456B5}"/>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4687" t="37615" r="4486" b="37322"/>
          <a:stretch/>
        </p:blipFill>
        <p:spPr>
          <a:xfrm>
            <a:off x="4569359" y="6159979"/>
            <a:ext cx="3070917" cy="508431"/>
          </a:xfrm>
          <a:prstGeom prst="rect">
            <a:avLst/>
          </a:prstGeom>
        </p:spPr>
      </p:pic>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DengXian" panose="02010600030101010101" pitchFamily="2" charset="-122"/>
                <a:ea typeface="DengXian" panose="02010600030101010101" pitchFamily="2" charset="-122"/>
                <a:cs typeface="Arial" panose="020B0604020202020204" pitchFamily="34" charset="0"/>
              </a:rPr>
              <a:t>Thank you</a:t>
            </a:r>
            <a:endParaRPr lang="en-US" sz="2400">
              <a:latin typeface="DengXian" panose="02010600030101010101" pitchFamily="2" charset="-122"/>
              <a:ea typeface="DengXian" panose="02010600030101010101" pitchFamily="2" charset="-122"/>
            </a:endParaRPr>
          </a:p>
        </p:txBody>
      </p:sp>
    </p:spTree>
    <p:extLst>
      <p:ext uri="{BB962C8B-B14F-4D97-AF65-F5344CB8AC3E}">
        <p14:creationId xmlns:p14="http://schemas.microsoft.com/office/powerpoint/2010/main" val="220105898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type="obj" preserve="1">
  <p:cSld name="Text and Content - Whit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658435522"/>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4" imgW="352" imgH="355" progId="TCLayout.ActiveDocument.1">
                  <p:embed/>
                </p:oleObj>
              </mc:Choice>
              <mc:Fallback>
                <p:oleObj name="think-cell Slide" r:id="rId4" imgW="352" imgH="355" progId="TCLayout.ActiveDocument.1">
                  <p:embed/>
                  <p:pic>
                    <p:nvPicPr>
                      <p:cNvPr id="4" name="Object 3" hidden="1"/>
                      <p:cNvPicPr/>
                      <p:nvPr/>
                    </p:nvPicPr>
                    <p:blipFill>
                      <a:blip r:embed="rId5"/>
                      <a:stretch>
                        <a:fillRect/>
                      </a:stretch>
                    </p:blipFill>
                    <p:spPr>
                      <a:xfrm>
                        <a:off x="1589" y="1589"/>
                        <a:ext cx="1587" cy="1587"/>
                      </a:xfrm>
                      <a:prstGeom prst="rect">
                        <a:avLst/>
                      </a:prstGeom>
                    </p:spPr>
                  </p:pic>
                </p:oleObj>
              </mc:Fallback>
            </mc:AlternateContent>
          </a:graphicData>
        </a:graphic>
      </p:graphicFrame>
      <p:sp>
        <p:nvSpPr>
          <p:cNvPr id="6" name="Rectangle 5" hidden="1"/>
          <p:cNvSpPr/>
          <p:nvPr userDrawn="1">
            <p:custDataLst>
              <p:tags r:id="rId2"/>
            </p:custDataLst>
          </p:nvPr>
        </p:nvSpPr>
        <p:spPr>
          <a:xfrm>
            <a:off x="1" y="1"/>
            <a:ext cx="158751" cy="158751"/>
          </a:xfrm>
          <a:prstGeom prst="rect">
            <a:avLst/>
          </a:prstGeom>
          <a:solidFill>
            <a:schemeClr val="accent1"/>
          </a:solidFill>
          <a:ln w="6350" cap="flat" cmpd="sng" algn="ctr">
            <a:noFill/>
            <a:prstDash val="solid"/>
            <a:round/>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lvl="0" indent="0" algn="ctr" eaLnBrk="1">
              <a:lnSpc>
                <a:spcPct val="90000"/>
              </a:lnSpc>
              <a:spcBef>
                <a:spcPct val="0"/>
              </a:spcBef>
              <a:spcAft>
                <a:spcPct val="0"/>
              </a:spcAft>
            </a:pPr>
            <a:endParaRPr lang="en-US" sz="3200" b="0" i="0" kern="600" spc="31" baseline="0">
              <a:latin typeface="Arial Narrow" panose="020B0606020202030204" pitchFamily="34" charset="0"/>
              <a:ea typeface="+mj-ea"/>
              <a:cs typeface="+mj-cs"/>
              <a:sym typeface="Arial Narrow" panose="020B0606020202030204" pitchFamily="34" charset="0"/>
            </a:endParaRPr>
          </a:p>
        </p:txBody>
      </p:sp>
      <p:sp>
        <p:nvSpPr>
          <p:cNvPr id="2" name="Title 1"/>
          <p:cNvSpPr>
            <a:spLocks noGrp="1"/>
          </p:cNvSpPr>
          <p:nvPr>
            <p:ph type="title" hasCustomPrompt="1"/>
          </p:nvPr>
        </p:nvSpPr>
        <p:spPr>
          <a:xfrm>
            <a:off x="619547" y="446260"/>
            <a:ext cx="10962696" cy="1076155"/>
          </a:xfrm>
        </p:spPr>
        <p:txBody>
          <a:bodyPr/>
          <a:lstStyle>
            <a:lvl1pPr>
              <a:defRPr>
                <a:latin typeface="+mj-lt"/>
                <a:sym typeface="+mj-lt"/>
              </a:defRPr>
            </a:lvl1pPr>
          </a:lstStyle>
          <a:p>
            <a:r>
              <a:rPr lang="en-US"/>
              <a:t>&lt;Title &amp; content layout&gt;</a:t>
            </a:r>
          </a:p>
        </p:txBody>
      </p:sp>
      <p:sp>
        <p:nvSpPr>
          <p:cNvPr id="3" name="Content Placeholder 2"/>
          <p:cNvSpPr>
            <a:spLocks noGrp="1"/>
          </p:cNvSpPr>
          <p:nvPr>
            <p:ph idx="1"/>
          </p:nvPr>
        </p:nvSpPr>
        <p:spPr>
          <a:xfrm>
            <a:off x="619544" y="1853401"/>
            <a:ext cx="10963491" cy="4290227"/>
          </a:xfrm>
        </p:spPr>
        <p:txBody>
          <a:bodyPr/>
          <a:lstStyle>
            <a:lvl1pPr>
              <a:spcBef>
                <a:spcPts val="10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eacon_IFL_grey RGB 1.6.png"/>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9826834" y="6177223"/>
            <a:ext cx="1435981" cy="511435"/>
          </a:xfrm>
          <a:prstGeom prst="rect">
            <a:avLst/>
          </a:prstGeom>
        </p:spPr>
      </p:pic>
      <p:sp>
        <p:nvSpPr>
          <p:cNvPr id="11" name="TextBox 10"/>
          <p:cNvSpPr txBox="1"/>
          <p:nvPr userDrawn="1"/>
        </p:nvSpPr>
        <p:spPr>
          <a:xfrm>
            <a:off x="11262815" y="6433585"/>
            <a:ext cx="372540" cy="289247"/>
          </a:xfrm>
          <a:prstGeom prst="rect">
            <a:avLst/>
          </a:prstGeom>
        </p:spPr>
        <p:txBody>
          <a:bodyPr vert="horz" lIns="0" tIns="0" rIns="0" bIns="0" rtlCol="0" anchor="t" anchorCtr="0"/>
          <a:lstStyle>
            <a:defPPr>
              <a:defRPr lang="en-US"/>
            </a:defPPr>
            <a:lvl1pPr algn="r" defTabSz="457200">
              <a:defRPr sz="900" kern="600" spc="10">
                <a:solidFill>
                  <a:srgbClr val="37424A"/>
                </a:solidFill>
                <a:latin typeface="Arial Narrow"/>
              </a:defRPr>
            </a:lvl1pPr>
          </a:lstStyle>
          <a:p>
            <a:fld id="{DFCF27A5-1A5B-48D3-A060-2758FFBB1ADD}" type="slidenum">
              <a:rPr lang="en-US" sz="900" smtClean="0">
                <a:sym typeface="Trebuchet MS" panose="020B0603020202020204" pitchFamily="34" charset="0"/>
              </a:rPr>
              <a:pPr/>
              <a:t>‹#›</a:t>
            </a:fld>
            <a:endParaRPr lang="en-US" sz="900">
              <a:sym typeface="Trebuchet MS" panose="020B0603020202020204" pitchFamily="34" charset="0"/>
            </a:endParaRPr>
          </a:p>
        </p:txBody>
      </p:sp>
      <p:sp>
        <p:nvSpPr>
          <p:cNvPr id="5" name="Footer Placeholder 4"/>
          <p:cNvSpPr>
            <a:spLocks noGrp="1"/>
          </p:cNvSpPr>
          <p:nvPr>
            <p:ph type="ftr" sz="quarter" idx="11"/>
          </p:nvPr>
        </p:nvSpPr>
        <p:spPr>
          <a:xfrm>
            <a:off x="619547" y="6433582"/>
            <a:ext cx="3860800" cy="272020"/>
          </a:xfrm>
          <a:prstGeom prst="rect">
            <a:avLst/>
          </a:prstGeom>
        </p:spPr>
        <p:txBody>
          <a:bodyPr/>
          <a:lstStyle>
            <a:lvl1pPr>
              <a:defRPr>
                <a:solidFill>
                  <a:srgbClr val="000000"/>
                </a:solidFill>
              </a:defRPr>
            </a:lvl1pPr>
          </a:lstStyle>
          <a:p>
            <a:endParaRPr lang="en-US"/>
          </a:p>
        </p:txBody>
      </p:sp>
      <p:pic>
        <p:nvPicPr>
          <p:cNvPr id="268" name="bjClassifierImageBottom">
            <a:extLst>
              <a:ext uri="{FF2B5EF4-FFF2-40B4-BE49-F238E27FC236}">
                <a16:creationId xmlns:a16="http://schemas.microsoft.com/office/drawing/2014/main" id="{53B0D29D-E83E-424D-A1DC-1A737B801E2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3500" y="6468337"/>
            <a:ext cx="792549" cy="326164"/>
          </a:xfrm>
          <a:prstGeom prst="rect">
            <a:avLst/>
          </a:prstGeom>
        </p:spPr>
      </p:pic>
    </p:spTree>
    <p:extLst>
      <p:ext uri="{BB962C8B-B14F-4D97-AF65-F5344CB8AC3E}">
        <p14:creationId xmlns:p14="http://schemas.microsoft.com/office/powerpoint/2010/main" val="3908649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85783">
              <a:defRPr/>
            </a:pPr>
            <a:endParaRPr lang="en-IN">
              <a:solidFill>
                <a:prstClr val="black">
                  <a:tint val="75000"/>
                </a:prstClr>
              </a:solidFill>
            </a:endParaRPr>
          </a:p>
        </p:txBody>
      </p:sp>
      <p:sp>
        <p:nvSpPr>
          <p:cNvPr id="3" name="Footer Placeholder 2"/>
          <p:cNvSpPr>
            <a:spLocks noGrp="1"/>
          </p:cNvSpPr>
          <p:nvPr>
            <p:ph type="ftr" sz="quarter" idx="11"/>
          </p:nvPr>
        </p:nvSpPr>
        <p:spPr/>
        <p:txBody>
          <a:bodyPr/>
          <a:lstStyle/>
          <a:p>
            <a:pPr defTabSz="685783">
              <a:defRPr/>
            </a:pPr>
            <a:endParaRPr lang="en-IN">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85783">
              <a:defRPr/>
            </a:pPr>
            <a:fld id="{C57AA887-85A7-4CAD-8D10-B378C2E1B4A8}" type="slidenum">
              <a:rPr lang="en-IN" smtClean="0">
                <a:solidFill>
                  <a:prstClr val="black">
                    <a:tint val="75000"/>
                  </a:prstClr>
                </a:solidFill>
              </a:rPr>
              <a:pPr defTabSz="685783">
                <a:defRPr/>
              </a:pPr>
              <a:t>‹#›</a:t>
            </a:fld>
            <a:endParaRPr lang="en-IN">
              <a:solidFill>
                <a:prstClr val="black">
                  <a:tint val="75000"/>
                </a:prstClr>
              </a:solidFill>
            </a:endParaRPr>
          </a:p>
        </p:txBody>
      </p:sp>
    </p:spTree>
    <p:extLst>
      <p:ext uri="{BB962C8B-B14F-4D97-AF65-F5344CB8AC3E}">
        <p14:creationId xmlns:p14="http://schemas.microsoft.com/office/powerpoint/2010/main" val="529763101"/>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4" y="1359587"/>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4"/>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sp>
        <p:nvSpPr>
          <p:cNvPr id="10" name="Slide Number Placeholder 5">
            <a:extLst>
              <a:ext uri="{FF2B5EF4-FFF2-40B4-BE49-F238E27FC236}">
                <a16:creationId xmlns:a16="http://schemas.microsoft.com/office/drawing/2014/main" id="{9CAD874C-4135-2F4B-9AE3-45F976F86B77}"/>
              </a:ext>
            </a:extLst>
          </p:cNvPr>
          <p:cNvSpPr txBox="1">
            <a:spLocks/>
          </p:cNvSpPr>
          <p:nvPr userDrawn="1"/>
        </p:nvSpPr>
        <p:spPr>
          <a:xfrm>
            <a:off x="5888567" y="6454693"/>
            <a:ext cx="414867" cy="273304"/>
          </a:xfrm>
          <a:prstGeom prst="rect">
            <a:avLst/>
          </a:prstGeom>
        </p:spPr>
        <p:txBody>
          <a:bodyPr/>
          <a:lstStyle>
            <a:defPPr>
              <a:defRPr lang="en-US"/>
            </a:defPPr>
            <a:lvl1pPr marL="0" algn="ctr" defTabSz="457200" rtl="0" eaLnBrk="1" latinLnBrk="0" hangingPunct="1">
              <a:defRPr sz="600" kern="1200">
                <a:solidFill>
                  <a:schemeClr val="tx2">
                    <a:lumMod val="10000"/>
                    <a:lumOff val="90000"/>
                  </a:schemeClr>
                </a:solidFill>
                <a:latin typeface="Montserrat" pitchFamily="2" charset="77"/>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23728905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1_Title and Content">
    <p:bg>
      <p:bgPr>
        <a:solidFill>
          <a:srgbClr val="FFFFFF"/>
        </a:solidFill>
        <a:effectLst/>
      </p:bgPr>
    </p:bg>
    <p:spTree>
      <p:nvGrpSpPr>
        <p:cNvPr id="1" name=""/>
        <p:cNvGrpSpPr/>
        <p:nvPr/>
      </p:nvGrpSpPr>
      <p:grpSpPr>
        <a:xfrm>
          <a:off x="0" y="0"/>
          <a:ext cx="0" cy="0"/>
          <a:chOff x="0" y="0"/>
          <a:chExt cx="0" cy="0"/>
        </a:xfrm>
      </p:grpSpPr>
      <p:sp>
        <p:nvSpPr>
          <p:cNvPr id="2" name="New shape"/>
          <p:cNvSpPr/>
          <p:nvPr/>
        </p:nvSpPr>
        <p:spPr>
          <a:xfrm>
            <a:off x="11032871" y="442849"/>
            <a:ext cx="486029" cy="486029"/>
          </a:xfrm>
          <a:prstGeom prst="ellipse">
            <a:avLst/>
          </a:prstGeom>
          <a:ln w="12700">
            <a:noFill/>
            <a:prstDash val="solid"/>
            <a:miter/>
          </a:ln>
        </p:spPr>
        <p:style>
          <a:lnRef idx="2">
            <a:schemeClr val="accent1">
              <a:shade val="50000"/>
            </a:schemeClr>
          </a:lnRef>
          <a:fillRef idx="1">
            <a:srgbClr val="54B948"/>
          </a:fillRef>
          <a:effectRef idx="0">
            <a:schemeClr val="accent1"/>
          </a:effectRef>
          <a:fontRef idx="minor">
            <a:schemeClr val="lt1"/>
          </a:fontRef>
        </p:style>
        <p:txBody>
          <a:bodyPr lIns="91440" tIns="53340" rIns="91440" bIns="91440" rtlCol="0" anchor="ctr"/>
          <a:lstStyle>
            <a:defPPr/>
          </a:lstStyle>
          <a:p>
            <a:endParaRPr/>
          </a:p>
        </p:txBody>
      </p:sp>
      <p:sp>
        <p:nvSpPr>
          <p:cNvPr id="3" name="New shape"/>
          <p:cNvSpPr/>
          <p:nvPr/>
        </p:nvSpPr>
        <p:spPr>
          <a:xfrm>
            <a:off x="0" y="442849"/>
            <a:ext cx="254254" cy="486029"/>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4" name="New picture"/>
          <p:cNvPicPr/>
          <p:nvPr/>
        </p:nvPicPr>
        <p:blipFill>
          <a:blip r:embed="rId2"/>
          <a:stretch>
            <a:fillRect/>
          </a:stretch>
        </p:blipFill>
        <p:spPr>
          <a:xfrm>
            <a:off x="0" y="442849"/>
            <a:ext cx="254254" cy="486029"/>
          </a:xfrm>
          <a:prstGeom prst="rect">
            <a:avLst/>
          </a:prstGeom>
        </p:spPr>
      </p:pic>
      <p:sp>
        <p:nvSpPr>
          <p:cNvPr id="5" name="New shape"/>
          <p:cNvSpPr/>
          <p:nvPr/>
        </p:nvSpPr>
        <p:spPr>
          <a:xfrm>
            <a:off x="11698224" y="446405"/>
            <a:ext cx="493649" cy="475361"/>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6" name="New picture"/>
          <p:cNvPicPr/>
          <p:nvPr/>
        </p:nvPicPr>
        <p:blipFill>
          <a:blip r:embed="rId3"/>
          <a:stretch>
            <a:fillRect/>
          </a:stretch>
        </p:blipFill>
        <p:spPr>
          <a:xfrm>
            <a:off x="11698224" y="446405"/>
            <a:ext cx="493649" cy="475361"/>
          </a:xfrm>
          <a:prstGeom prst="rect">
            <a:avLst/>
          </a:prstGeom>
        </p:spPr>
      </p:pic>
      <p:sp>
        <p:nvSpPr>
          <p:cNvPr id="7" name="New shape"/>
          <p:cNvSpPr/>
          <p:nvPr/>
        </p:nvSpPr>
        <p:spPr>
          <a:xfrm>
            <a:off x="9961499" y="6374892"/>
            <a:ext cx="2143125" cy="352425"/>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8" name="New picture"/>
          <p:cNvPicPr/>
          <p:nvPr/>
        </p:nvPicPr>
        <p:blipFill>
          <a:blip r:embed="rId4"/>
          <a:stretch>
            <a:fillRect/>
          </a:stretch>
        </p:blipFill>
        <p:spPr>
          <a:xfrm>
            <a:off x="9961499" y="6374892"/>
            <a:ext cx="2143125" cy="352425"/>
          </a:xfrm>
          <a:prstGeom prst="rect">
            <a:avLst/>
          </a:prstGeom>
        </p:spPr>
      </p:pic>
    </p:spTree>
    <p:extLst>
      <p:ext uri="{BB962C8B-B14F-4D97-AF65-F5344CB8AC3E}">
        <p14:creationId xmlns:p14="http://schemas.microsoft.com/office/powerpoint/2010/main" val="7192352"/>
      </p:ext>
    </p:extLst>
  </p:cSld>
  <p:clrMapOvr>
    <a:masterClrMapping/>
  </p:clrMapOvr>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image" Target="../media/image1.pn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21" Type="http://schemas.openxmlformats.org/officeDocument/2006/relationships/oleObject" Target="../embeddings/oleObject2.bin"/><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ags" Target="../tags/tag3.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theme" Target="../theme/theme2.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image" Target="../media/image7.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59"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7E38C402-0E2C-B297-29CD-2C929636C9C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751961532"/>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 id="2147484009" r:id="rId15"/>
    <p:sldLayoutId id="2147484010" r:id="rId16"/>
    <p:sldLayoutId id="2147484012" r:id="rId17"/>
    <p:sldLayoutId id="2147484013" r:id="rId18"/>
    <p:sldLayoutId id="2147484015" r:id="rId19"/>
    <p:sldLayoutId id="2147484016" r:id="rId20"/>
    <p:sldLayoutId id="2147484017" r:id="rId21"/>
    <p:sldLayoutId id="2147484018" r:id="rId22"/>
    <p:sldLayoutId id="2147484019" r:id="rId23"/>
    <p:sldLayoutId id="2147484020" r:id="rId24"/>
    <p:sldLayoutId id="2147484021" r:id="rId25"/>
    <p:sldLayoutId id="2147484022" r:id="rId26"/>
    <p:sldLayoutId id="2147484023" r:id="rId27"/>
    <p:sldLayoutId id="2147484024" r:id="rId28"/>
    <p:sldLayoutId id="2147484025" r:id="rId29"/>
    <p:sldLayoutId id="2147484026" r:id="rId30"/>
    <p:sldLayoutId id="2147484027" r:id="rId31"/>
    <p:sldLayoutId id="2147484028" r:id="rId32"/>
    <p:sldLayoutId id="2147484029" r:id="rId33"/>
    <p:sldLayoutId id="2147484030" r:id="rId34"/>
    <p:sldLayoutId id="2147484031" r:id="rId35"/>
    <p:sldLayoutId id="2147484032" r:id="rId36"/>
    <p:sldLayoutId id="2147484033" r:id="rId37"/>
    <p:sldLayoutId id="2147484034" r:id="rId38"/>
    <p:sldLayoutId id="2147484035" r:id="rId39"/>
    <p:sldLayoutId id="2147484036" r:id="rId40"/>
    <p:sldLayoutId id="2147484037" r:id="rId41"/>
    <p:sldLayoutId id="2147484038" r:id="rId42"/>
    <p:sldLayoutId id="2147484039" r:id="rId43"/>
    <p:sldLayoutId id="2147483837" r:id="rId44"/>
    <p:sldLayoutId id="2147483838" r:id="rId45"/>
    <p:sldLayoutId id="2147483858" r:id="rId46"/>
    <p:sldLayoutId id="2147483860" r:id="rId47"/>
    <p:sldLayoutId id="2147483807" r:id="rId48"/>
    <p:sldLayoutId id="2147483828" r:id="rId49"/>
    <p:sldLayoutId id="2147483725" r:id="rId50"/>
    <p:sldLayoutId id="2147483742" r:id="rId51"/>
    <p:sldLayoutId id="2147483744" r:id="rId52"/>
    <p:sldLayoutId id="2147483746" r:id="rId53"/>
    <p:sldLayoutId id="2147483747" r:id="rId54"/>
    <p:sldLayoutId id="2147483754" r:id="rId55"/>
    <p:sldLayoutId id="2147483755" r:id="rId56"/>
    <p:sldLayoutId id="2147483756" r:id="rId57"/>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F950B339-5CC0-40B5-8836-660AF82E984D}"/>
              </a:ext>
            </a:extLst>
          </p:cNvPr>
          <p:cNvGraphicFramePr>
            <a:graphicFrameLocks noChangeAspect="1"/>
          </p:cNvGraphicFramePr>
          <p:nvPr userDrawn="1">
            <p:custDataLst>
              <p:tags r:id="rId20"/>
            </p:custDataLst>
            <p:extLst>
              <p:ext uri="{D42A27DB-BD31-4B8C-83A1-F6EECF244321}">
                <p14:modId xmlns:p14="http://schemas.microsoft.com/office/powerpoint/2010/main" val="22810742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306" imgH="306" progId="TCLayout.ActiveDocument.1">
                  <p:embed/>
                </p:oleObj>
              </mc:Choice>
              <mc:Fallback>
                <p:oleObj name="think-cell Slide" r:id="rId21" imgW="306" imgH="306" progId="TCLayout.ActiveDocument.1">
                  <p:embed/>
                  <p:pic>
                    <p:nvPicPr>
                      <p:cNvPr id="9" name="Object 8" hidden="1">
                        <a:extLst>
                          <a:ext uri="{FF2B5EF4-FFF2-40B4-BE49-F238E27FC236}">
                            <a16:creationId xmlns:a16="http://schemas.microsoft.com/office/drawing/2014/main" id="{F950B339-5CC0-40B5-8836-660AF82E984D}"/>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AD0E1EFB-12D9-8987-277D-004C2B16E69C}"/>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574980470"/>
      </p:ext>
    </p:extLst>
  </p:cSld>
  <p:clrMap bg1="lt1" tx1="dk1" bg2="lt2" tx2="dk2" accent1="accent1" accent2="accent2" accent3="accent3" accent4="accent4" accent5="accent5" accent6="accent6" hlink="hlink" folHlink="folHlink"/>
  <p:sldLayoutIdLst>
    <p:sldLayoutId id="2147484450" r:id="rId1"/>
    <p:sldLayoutId id="2147484451" r:id="rId2"/>
    <p:sldLayoutId id="2147484452" r:id="rId3"/>
    <p:sldLayoutId id="2147484453" r:id="rId4"/>
    <p:sldLayoutId id="2147484454" r:id="rId5"/>
    <p:sldLayoutId id="2147484455" r:id="rId6"/>
    <p:sldLayoutId id="2147484456" r:id="rId7"/>
    <p:sldLayoutId id="2147484457" r:id="rId8"/>
    <p:sldLayoutId id="2147484458" r:id="rId9"/>
    <p:sldLayoutId id="2147484459" r:id="rId10"/>
    <p:sldLayoutId id="2147484460" r:id="rId11"/>
    <p:sldLayoutId id="2147484461" r:id="rId12"/>
    <p:sldLayoutId id="2147484462" r:id="rId13"/>
    <p:sldLayoutId id="2147484463" r:id="rId14"/>
    <p:sldLayoutId id="2147484464" r:id="rId15"/>
    <p:sldLayoutId id="2147484465" r:id="rId16"/>
    <p:sldLayoutId id="2147484466" r:id="rId17"/>
    <p:sldLayoutId id="2147484467" r:id="rId18"/>
  </p:sldLayoutIdLst>
  <p:hf hdr="0" ftr="0" dt="0"/>
  <p:txStyles>
    <p:titleStyle>
      <a:lvl1pPr algn="l" defTabSz="914377"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94" indent="-228594" algn="l" defTabSz="914377"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98" indent="-224361" algn="l" defTabSz="914377"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42" indent="-234945" algn="l" defTabSz="914377"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38" indent="-253994" algn="l" defTabSz="914377"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99" indent="-224361" algn="l" defTabSz="914377"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rPr lang="en-US" dirty="0"/>
              <a:t>Study population</a:t>
            </a:r>
            <a:endParaRPr dirty="0"/>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Every table compares the same two groups over the same window of time.</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1</a:t>
            </a:r>
          </a:p>
        </p:txBody>
      </p:sp>
      <p:sp>
        <p:nvSpPr>
          <p:cNvPr id="5" name="TextBox 4"/>
          <p:cNvSpPr txBox="1"/>
          <p:nvPr/>
        </p:nvSpPr>
        <p:spPr>
          <a:xfrm>
            <a:off x="502920" y="1325880"/>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Two columns, one window</a:t>
            </a:r>
          </a:p>
        </p:txBody>
      </p:sp>
      <p:sp>
        <p:nvSpPr>
          <p:cNvPr id="7" name="TextBox 6"/>
          <p:cNvSpPr txBox="1"/>
          <p:nvPr/>
        </p:nvSpPr>
        <p:spPr>
          <a:xfrm>
            <a:off x="731520" y="1581912"/>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Every table has a headache patient column and a matched patient column, both covering the same window of time.</a:t>
            </a:r>
          </a:p>
        </p:txBody>
      </p:sp>
      <p:sp>
        <p:nvSpPr>
          <p:cNvPr id="8" name="TextBox 7"/>
          <p:cNvSpPr txBox="1"/>
          <p:nvPr/>
        </p:nvSpPr>
        <p:spPr>
          <a:xfrm>
            <a:off x="502920" y="1984248"/>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1984248"/>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Index date</a:t>
            </a:r>
          </a:p>
        </p:txBody>
      </p:sp>
      <p:sp>
        <p:nvSpPr>
          <p:cNvPr id="10" name="TextBox 9"/>
          <p:cNvSpPr txBox="1"/>
          <p:nvPr/>
        </p:nvSpPr>
        <p:spPr>
          <a:xfrm>
            <a:off x="731520" y="2240280"/>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The day of the first headache diagnosis. Matched patients take the same date, so both columns measure from the same day.</a:t>
            </a:r>
          </a:p>
        </p:txBody>
      </p:sp>
      <p:sp>
        <p:nvSpPr>
          <p:cNvPr id="11" name="TextBox 10"/>
          <p:cNvSpPr txBox="1"/>
          <p:nvPr/>
        </p:nvSpPr>
        <p:spPr>
          <a:xfrm>
            <a:off x="502920" y="2642615"/>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642615"/>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What the matched column is not</a:t>
            </a:r>
          </a:p>
        </p:txBody>
      </p:sp>
      <p:sp>
        <p:nvSpPr>
          <p:cNvPr id="13" name="TextBox 12"/>
          <p:cNvSpPr txBox="1"/>
          <p:nvPr/>
        </p:nvSpPr>
        <p:spPr>
          <a:xfrm>
            <a:off x="731520" y="2898648"/>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Matched patients receive painkillers for other reasons. Their column is a background rate, not headache treatment.</a:t>
            </a:r>
          </a:p>
        </p:txBody>
      </p:sp>
      <p:sp>
        <p:nvSpPr>
          <p:cNvPr id="14" name="TextBox 13"/>
          <p:cNvSpPr txBox="1"/>
          <p:nvPr/>
        </p:nvSpPr>
        <p:spPr>
          <a:xfrm>
            <a:off x="502920" y="3429000"/>
            <a:ext cx="548640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Who is in the study</a:t>
            </a:r>
          </a:p>
        </p:txBody>
      </p:sp>
      <p:sp>
        <p:nvSpPr>
          <p:cNvPr id="15" name="TextBox 14"/>
          <p:cNvSpPr txBox="1"/>
          <p:nvPr/>
        </p:nvSpPr>
        <p:spPr>
          <a:xfrm>
            <a:off x="502920" y="3794760"/>
            <a:ext cx="1554480" cy="274320"/>
          </a:xfrm>
          <a:prstGeom prst="rect">
            <a:avLst/>
          </a:prstGeom>
          <a:noFill/>
        </p:spPr>
        <p:txBody>
          <a:bodyPr wrap="square" lIns="0" tIns="0" rIns="0" bIns="0" anchor="t">
            <a:spAutoFit/>
          </a:bodyPr>
          <a:lstStyle/>
          <a:p>
            <a:pPr algn="r">
              <a:lnSpc>
                <a:spcPct val="120000"/>
              </a:lnSpc>
              <a:spcAft>
                <a:spcPts val="500"/>
              </a:spcAft>
            </a:pPr>
            <a:r>
              <a:rPr sz="1300" b="1">
                <a:solidFill>
                  <a:srgbClr val="171717"/>
                </a:solidFill>
                <a:latin typeface="Montserrat"/>
              </a:rPr>
              <a:t>10,466,929</a:t>
            </a:r>
          </a:p>
        </p:txBody>
      </p:sp>
      <p:sp>
        <p:nvSpPr>
          <p:cNvPr id="16" name="TextBox 15"/>
          <p:cNvSpPr txBox="1"/>
          <p:nvPr/>
        </p:nvSpPr>
        <p:spPr>
          <a:xfrm>
            <a:off x="2240280" y="3813048"/>
            <a:ext cx="8229600" cy="27432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patients observable in THIN Germany from Jan 2021</a:t>
            </a:r>
          </a:p>
        </p:txBody>
      </p:sp>
      <p:sp>
        <p:nvSpPr>
          <p:cNvPr id="17" name="TextBox 16"/>
          <p:cNvSpPr txBox="1"/>
          <p:nvPr/>
        </p:nvSpPr>
        <p:spPr>
          <a:xfrm>
            <a:off x="502920" y="4178808"/>
            <a:ext cx="1554480" cy="274320"/>
          </a:xfrm>
          <a:prstGeom prst="rect">
            <a:avLst/>
          </a:prstGeom>
          <a:noFill/>
        </p:spPr>
        <p:txBody>
          <a:bodyPr wrap="square" lIns="0" tIns="0" rIns="0" bIns="0" anchor="t">
            <a:spAutoFit/>
          </a:bodyPr>
          <a:lstStyle/>
          <a:p>
            <a:pPr algn="r">
              <a:lnSpc>
                <a:spcPct val="120000"/>
              </a:lnSpc>
              <a:spcAft>
                <a:spcPts val="500"/>
              </a:spcAft>
            </a:pPr>
            <a:r>
              <a:rPr sz="1300" b="1">
                <a:solidFill>
                  <a:srgbClr val="171717"/>
                </a:solidFill>
                <a:latin typeface="Montserrat"/>
              </a:rPr>
              <a:t>359,425</a:t>
            </a:r>
          </a:p>
        </p:txBody>
      </p:sp>
      <p:sp>
        <p:nvSpPr>
          <p:cNvPr id="18" name="TextBox 17"/>
          <p:cNvSpPr txBox="1"/>
          <p:nvPr/>
        </p:nvSpPr>
        <p:spPr>
          <a:xfrm>
            <a:off x="2240280" y="4197096"/>
            <a:ext cx="8229600" cy="27432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with a confirmed headache disorder diagnosis</a:t>
            </a:r>
          </a:p>
        </p:txBody>
      </p:sp>
      <p:sp>
        <p:nvSpPr>
          <p:cNvPr id="19" name="TextBox 18"/>
          <p:cNvSpPr txBox="1"/>
          <p:nvPr/>
        </p:nvSpPr>
        <p:spPr>
          <a:xfrm>
            <a:off x="502920" y="4562856"/>
            <a:ext cx="1554480" cy="274320"/>
          </a:xfrm>
          <a:prstGeom prst="rect">
            <a:avLst/>
          </a:prstGeom>
          <a:noFill/>
        </p:spPr>
        <p:txBody>
          <a:bodyPr wrap="square" lIns="0" tIns="0" rIns="0" bIns="0" anchor="t">
            <a:spAutoFit/>
          </a:bodyPr>
          <a:lstStyle/>
          <a:p>
            <a:pPr algn="r">
              <a:lnSpc>
                <a:spcPct val="120000"/>
              </a:lnSpc>
              <a:spcAft>
                <a:spcPts val="500"/>
              </a:spcAft>
            </a:pPr>
            <a:r>
              <a:rPr sz="1300" b="1">
                <a:solidFill>
                  <a:srgbClr val="171717"/>
                </a:solidFill>
                <a:latin typeface="Montserrat"/>
              </a:rPr>
              <a:t>273,957</a:t>
            </a:r>
          </a:p>
        </p:txBody>
      </p:sp>
      <p:sp>
        <p:nvSpPr>
          <p:cNvPr id="20" name="TextBox 19"/>
          <p:cNvSpPr txBox="1"/>
          <p:nvPr/>
        </p:nvSpPr>
        <p:spPr>
          <a:xfrm>
            <a:off x="2240280" y="4581144"/>
            <a:ext cx="8229600" cy="27432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with at least 1 year of follow-up after diagnosis</a:t>
            </a:r>
          </a:p>
        </p:txBody>
      </p:sp>
      <p:sp>
        <p:nvSpPr>
          <p:cNvPr id="21" name="TextBox 20"/>
          <p:cNvSpPr txBox="1"/>
          <p:nvPr/>
        </p:nvSpPr>
        <p:spPr>
          <a:xfrm>
            <a:off x="502920" y="4946904"/>
            <a:ext cx="1554480" cy="274320"/>
          </a:xfrm>
          <a:prstGeom prst="rect">
            <a:avLst/>
          </a:prstGeom>
          <a:noFill/>
        </p:spPr>
        <p:txBody>
          <a:bodyPr wrap="square" lIns="0" tIns="0" rIns="0" bIns="0" anchor="t">
            <a:spAutoFit/>
          </a:bodyPr>
          <a:lstStyle/>
          <a:p>
            <a:pPr algn="r">
              <a:lnSpc>
                <a:spcPct val="120000"/>
              </a:lnSpc>
              <a:spcAft>
                <a:spcPts val="500"/>
              </a:spcAft>
            </a:pPr>
            <a:r>
              <a:rPr sz="1300" b="1">
                <a:solidFill>
                  <a:srgbClr val="171717"/>
                </a:solidFill>
                <a:latin typeface="Montserrat"/>
              </a:rPr>
              <a:t>242,486</a:t>
            </a:r>
          </a:p>
        </p:txBody>
      </p:sp>
      <p:sp>
        <p:nvSpPr>
          <p:cNvPr id="22" name="TextBox 21"/>
          <p:cNvSpPr txBox="1"/>
          <p:nvPr/>
        </p:nvSpPr>
        <p:spPr>
          <a:xfrm>
            <a:off x="2240280" y="4965192"/>
            <a:ext cx="8229600" cy="27432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matched 1:1 to a person with no headache history</a:t>
            </a:r>
          </a:p>
        </p:txBody>
      </p:sp>
      <p:sp>
        <p:nvSpPr>
          <p:cNvPr id="23" name="TextBox 22"/>
          <p:cNvSpPr txBox="1"/>
          <p:nvPr/>
        </p:nvSpPr>
        <p:spPr>
          <a:xfrm>
            <a:off x="502920" y="5532120"/>
            <a:ext cx="10607040" cy="365760"/>
          </a:xfrm>
          <a:prstGeom prst="rect">
            <a:avLst/>
          </a:prstGeom>
          <a:noFill/>
        </p:spPr>
        <p:txBody>
          <a:bodyPr wrap="square" lIns="0" tIns="0" rIns="0" bIns="0" anchor="t">
            <a:spAutoFit/>
          </a:bodyPr>
          <a:lstStyle/>
          <a:p>
            <a:pPr algn="l">
              <a:lnSpc>
                <a:spcPct val="120000"/>
              </a:lnSpc>
              <a:spcAft>
                <a:spcPts val="500"/>
              </a:spcAft>
            </a:pPr>
            <a:r>
              <a:rPr sz="1100" b="0" dirty="0">
                <a:solidFill>
                  <a:srgbClr val="595C62"/>
                </a:solidFill>
                <a:latin typeface="Montserrat"/>
              </a:rPr>
              <a:t>Matched on year of birth (within 2 years), sex and practice site, so the two groups are comparable and each pair is followed over the same window of time.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The three painkiller families (ATC group N02)</a:t>
            </a:r>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Everything here concerns ATC group N02, prescribed painkillers. It splits into three types.</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2</a:t>
            </a:r>
          </a:p>
        </p:txBody>
      </p:sp>
      <p:sp>
        <p:nvSpPr>
          <p:cNvPr id="5" name="TextBox 4"/>
          <p:cNvSpPr txBox="1"/>
          <p:nvPr/>
        </p:nvSpPr>
        <p:spPr>
          <a:xfrm>
            <a:off x="502920" y="1371600"/>
            <a:ext cx="365760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N02A  Opioids</a:t>
            </a:r>
          </a:p>
        </p:txBody>
      </p:sp>
      <p:sp>
        <p:nvSpPr>
          <p:cNvPr id="6" name="TextBox 5"/>
          <p:cNvSpPr txBox="1"/>
          <p:nvPr/>
        </p:nvSpPr>
        <p:spPr>
          <a:xfrm>
            <a:off x="3931920" y="1371600"/>
            <a:ext cx="722376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Strong pain relief: tramadol, tilidine, oxycodone, fentanyl. Not a headache treatment; their presence signals escalation or other pain.</a:t>
            </a:r>
          </a:p>
        </p:txBody>
      </p:sp>
      <p:sp>
        <p:nvSpPr>
          <p:cNvPr id="7" name="Rectangle 6"/>
          <p:cNvSpPr/>
          <p:nvPr/>
        </p:nvSpPr>
        <p:spPr>
          <a:xfrm>
            <a:off x="502920" y="1938528"/>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2231136"/>
            <a:ext cx="365760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N02B  Everyday analgesics</a:t>
            </a:r>
          </a:p>
        </p:txBody>
      </p:sp>
      <p:sp>
        <p:nvSpPr>
          <p:cNvPr id="9" name="TextBox 8"/>
          <p:cNvSpPr txBox="1"/>
          <p:nvPr/>
        </p:nvSpPr>
        <p:spPr>
          <a:xfrm>
            <a:off x="3931920" y="2231136"/>
            <a:ext cx="722376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Metamizole, paracetamol, aspirin, plus gabapentin and pregabalin for nerve pain. General-purpose, not migraine-specific.</a:t>
            </a:r>
          </a:p>
        </p:txBody>
      </p:sp>
      <p:sp>
        <p:nvSpPr>
          <p:cNvPr id="10" name="Rectangle 9"/>
          <p:cNvSpPr/>
          <p:nvPr/>
        </p:nvSpPr>
        <p:spPr>
          <a:xfrm>
            <a:off x="502920" y="2798064"/>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3090672"/>
            <a:ext cx="365760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N02C  Migraine-specific</a:t>
            </a:r>
          </a:p>
        </p:txBody>
      </p:sp>
      <p:sp>
        <p:nvSpPr>
          <p:cNvPr id="12" name="TextBox 11"/>
          <p:cNvSpPr txBox="1"/>
          <p:nvPr/>
        </p:nvSpPr>
        <p:spPr>
          <a:xfrm>
            <a:off x="3931920" y="3090672"/>
            <a:ext cx="722376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Triptans (sumatriptan, rizatriptan) and the newer CGRP antibodies. Prescribed for migraine and essentially nothing else.</a:t>
            </a:r>
          </a:p>
        </p:txBody>
      </p:sp>
      <p:sp>
        <p:nvSpPr>
          <p:cNvPr id="13" name="Rectangle 12"/>
          <p:cNvSpPr/>
          <p:nvPr/>
        </p:nvSpPr>
        <p:spPr>
          <a:xfrm>
            <a:off x="502920" y="36576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3977639"/>
            <a:ext cx="10607040" cy="548640"/>
          </a:xfrm>
          <a:prstGeom prst="rect">
            <a:avLst/>
          </a:prstGeom>
          <a:noFill/>
        </p:spPr>
        <p:txBody>
          <a:bodyPr wrap="square" lIns="0" tIns="0" rIns="0" bIns="0" anchor="t">
            <a:spAutoFit/>
          </a:bodyPr>
          <a:lstStyle/>
          <a:p>
            <a:pPr algn="l">
              <a:lnSpc>
                <a:spcPct val="130000"/>
              </a:lnSpc>
              <a:spcAft>
                <a:spcPts val="500"/>
              </a:spcAft>
            </a:pPr>
            <a:r>
              <a:rPr sz="1250" b="0">
                <a:solidFill>
                  <a:srgbClr val="171717"/>
                </a:solidFill>
                <a:latin typeface="Montserrat"/>
              </a:rPr>
              <a:t>Only N02C indicates a doctor treating migraine as migraine. N02A and N02B indicate pain being managed, without saying what for.</a:t>
            </a:r>
          </a:p>
        </p:txBody>
      </p:sp>
      <p:sp>
        <p:nvSpPr>
          <p:cNvPr id="15" name="TextBox 14"/>
          <p:cNvSpPr txBox="1"/>
          <p:nvPr/>
        </p:nvSpPr>
        <p:spPr>
          <a:xfrm>
            <a:off x="502920" y="4892040"/>
            <a:ext cx="10607040" cy="365760"/>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Note on what is counted: a “prescription line” is one drug on one prescription. Percentages are either that group's share of its own prescriptions, or a share of patients. Each is labelled.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Prescription volume, and what it leaves out</a:t>
            </a:r>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Counted over each patient's own follow-up time. Both groups have 242,486 patients.</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3</a:t>
            </a:r>
          </a:p>
        </p:txBody>
      </p:sp>
      <p:sp>
        <p:nvSpPr>
          <p:cNvPr id="5" name="TextBox 4"/>
          <p:cNvSpPr txBox="1"/>
          <p:nvPr/>
        </p:nvSpPr>
        <p:spPr>
          <a:xfrm>
            <a:off x="502920" y="1371600"/>
            <a:ext cx="3383280" cy="457200"/>
          </a:xfrm>
          <a:prstGeom prst="rect">
            <a:avLst/>
          </a:prstGeom>
          <a:noFill/>
        </p:spPr>
        <p:txBody>
          <a:bodyPr wrap="square" lIns="0" tIns="0" rIns="0" bIns="0" anchor="t">
            <a:spAutoFit/>
          </a:bodyPr>
          <a:lstStyle/>
          <a:p>
            <a:pPr algn="l">
              <a:lnSpc>
                <a:spcPct val="120000"/>
              </a:lnSpc>
              <a:spcAft>
                <a:spcPts val="500"/>
              </a:spcAft>
            </a:pPr>
            <a:r>
              <a:rPr sz="2600" b="1">
                <a:solidFill>
                  <a:srgbClr val="E20177"/>
                </a:solidFill>
                <a:latin typeface="Montserrat"/>
              </a:rPr>
              <a:t>50.9%</a:t>
            </a:r>
          </a:p>
        </p:txBody>
      </p:sp>
      <p:sp>
        <p:nvSpPr>
          <p:cNvPr id="6" name="TextBox 5"/>
          <p:cNvSpPr txBox="1"/>
          <p:nvPr/>
        </p:nvSpPr>
        <p:spPr>
          <a:xfrm>
            <a:off x="502920" y="1874519"/>
            <a:ext cx="3383280" cy="274320"/>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of headache patients are treated</a:t>
            </a:r>
          </a:p>
        </p:txBody>
      </p:sp>
      <p:sp>
        <p:nvSpPr>
          <p:cNvPr id="7" name="TextBox 6"/>
          <p:cNvSpPr txBox="1"/>
          <p:nvPr/>
        </p:nvSpPr>
        <p:spPr>
          <a:xfrm>
            <a:off x="502920" y="2194560"/>
            <a:ext cx="3291840" cy="731520"/>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123,330 patients, against 44,471 controls (18.3%). Nearly three times the treated population.</a:t>
            </a:r>
          </a:p>
        </p:txBody>
      </p:sp>
      <p:sp>
        <p:nvSpPr>
          <p:cNvPr id="8" name="TextBox 7"/>
          <p:cNvSpPr txBox="1"/>
          <p:nvPr/>
        </p:nvSpPr>
        <p:spPr>
          <a:xfrm>
            <a:off x="4160520" y="1371600"/>
            <a:ext cx="3383280" cy="457200"/>
          </a:xfrm>
          <a:prstGeom prst="rect">
            <a:avLst/>
          </a:prstGeom>
          <a:noFill/>
        </p:spPr>
        <p:txBody>
          <a:bodyPr wrap="square" lIns="0" tIns="0" rIns="0" bIns="0" anchor="t">
            <a:spAutoFit/>
          </a:bodyPr>
          <a:lstStyle/>
          <a:p>
            <a:pPr algn="l">
              <a:lnSpc>
                <a:spcPct val="120000"/>
              </a:lnSpc>
              <a:spcAft>
                <a:spcPts val="500"/>
              </a:spcAft>
            </a:pPr>
            <a:r>
              <a:rPr sz="2600" b="1">
                <a:solidFill>
                  <a:srgbClr val="E20177"/>
                </a:solidFill>
                <a:latin typeface="Montserrat"/>
              </a:rPr>
              <a:t>6.9</a:t>
            </a:r>
          </a:p>
        </p:txBody>
      </p:sp>
      <p:sp>
        <p:nvSpPr>
          <p:cNvPr id="9" name="TextBox 8"/>
          <p:cNvSpPr txBox="1"/>
          <p:nvPr/>
        </p:nvSpPr>
        <p:spPr>
          <a:xfrm>
            <a:off x="4160520" y="1874519"/>
            <a:ext cx="3383280" cy="274320"/>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prescriptions each, on average</a:t>
            </a:r>
          </a:p>
        </p:txBody>
      </p:sp>
      <p:sp>
        <p:nvSpPr>
          <p:cNvPr id="10" name="TextBox 9"/>
          <p:cNvSpPr txBox="1"/>
          <p:nvPr/>
        </p:nvSpPr>
        <p:spPr>
          <a:xfrm>
            <a:off x="4160520" y="2194560"/>
            <a:ext cx="3291840" cy="731520"/>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Controls: 4.78. The typical patient gets 3, against 2 for controls. The average is pulled up by a heavy-use minority.</a:t>
            </a:r>
          </a:p>
        </p:txBody>
      </p:sp>
      <p:sp>
        <p:nvSpPr>
          <p:cNvPr id="11" name="TextBox 10"/>
          <p:cNvSpPr txBox="1"/>
          <p:nvPr/>
        </p:nvSpPr>
        <p:spPr>
          <a:xfrm>
            <a:off x="7818120" y="1371600"/>
            <a:ext cx="3383280" cy="457200"/>
          </a:xfrm>
          <a:prstGeom prst="rect">
            <a:avLst/>
          </a:prstGeom>
          <a:noFill/>
        </p:spPr>
        <p:txBody>
          <a:bodyPr wrap="square" lIns="0" tIns="0" rIns="0" bIns="0" anchor="t">
            <a:spAutoFit/>
          </a:bodyPr>
          <a:lstStyle/>
          <a:p>
            <a:pPr algn="l">
              <a:lnSpc>
                <a:spcPct val="120000"/>
              </a:lnSpc>
              <a:spcAft>
                <a:spcPts val="500"/>
              </a:spcAft>
            </a:pPr>
            <a:r>
              <a:rPr sz="2600" b="1">
                <a:solidFill>
                  <a:srgbClr val="1B4198"/>
                </a:solidFill>
                <a:latin typeface="Montserrat"/>
              </a:rPr>
              <a:t>1.96%</a:t>
            </a:r>
          </a:p>
        </p:txBody>
      </p:sp>
      <p:sp>
        <p:nvSpPr>
          <p:cNvPr id="12" name="TextBox 11"/>
          <p:cNvSpPr txBox="1"/>
          <p:nvPr/>
        </p:nvSpPr>
        <p:spPr>
          <a:xfrm>
            <a:off x="7818120" y="1874519"/>
            <a:ext cx="3383280" cy="274320"/>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show possible medication overuse</a:t>
            </a:r>
          </a:p>
        </p:txBody>
      </p:sp>
      <p:sp>
        <p:nvSpPr>
          <p:cNvPr id="13" name="TextBox 12"/>
          <p:cNvSpPr txBox="1"/>
          <p:nvPr/>
        </p:nvSpPr>
        <p:spPr>
          <a:xfrm>
            <a:off x="7818120" y="2194560"/>
            <a:ext cx="3291840" cy="731520"/>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4,748 patients at 10 or more painkiller prescriptions a year, against 1,251 controls (0.52%).</a:t>
            </a:r>
          </a:p>
        </p:txBody>
      </p:sp>
      <p:sp>
        <p:nvSpPr>
          <p:cNvPr id="14" name="Rectangle 13"/>
          <p:cNvSpPr/>
          <p:nvPr/>
        </p:nvSpPr>
        <p:spPr>
          <a:xfrm>
            <a:off x="502920" y="32004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3429000"/>
            <a:ext cx="10607040" cy="221279"/>
          </a:xfrm>
          <a:prstGeom prst="rect">
            <a:avLst/>
          </a:prstGeom>
          <a:noFill/>
        </p:spPr>
        <p:txBody>
          <a:bodyPr wrap="square" lIns="0" tIns="0" rIns="0" bIns="0" anchor="t">
            <a:spAutoFit/>
          </a:bodyPr>
          <a:lstStyle/>
          <a:p>
            <a:pPr algn="l">
              <a:lnSpc>
                <a:spcPct val="120000"/>
              </a:lnSpc>
              <a:spcAft>
                <a:spcPts val="500"/>
              </a:spcAft>
            </a:pPr>
            <a:r>
              <a:rPr lang="en-US" sz="1300" b="1" dirty="0">
                <a:solidFill>
                  <a:srgbClr val="171717"/>
                </a:solidFill>
                <a:latin typeface="Montserrat"/>
              </a:rPr>
              <a:t>Keep in mind</a:t>
            </a:r>
            <a:endParaRPr sz="1300" b="1" dirty="0">
              <a:solidFill>
                <a:srgbClr val="171717"/>
              </a:solidFill>
              <a:latin typeface="Montserrat"/>
            </a:endParaRPr>
          </a:p>
        </p:txBody>
      </p:sp>
      <p:sp>
        <p:nvSpPr>
          <p:cNvPr id="16" name="TextBox 15"/>
          <p:cNvSpPr txBox="1"/>
          <p:nvPr/>
        </p:nvSpPr>
        <p:spPr>
          <a:xfrm>
            <a:off x="502920" y="3767328"/>
            <a:ext cx="10607040" cy="822960"/>
          </a:xfrm>
          <a:prstGeom prst="rect">
            <a:avLst/>
          </a:prstGeom>
          <a:noFill/>
        </p:spPr>
        <p:txBody>
          <a:bodyPr wrap="square" lIns="0" tIns="0" rIns="0" bIns="0" anchor="t">
            <a:spAutoFit/>
          </a:bodyPr>
          <a:lstStyle/>
          <a:p>
            <a:pPr algn="l">
              <a:lnSpc>
                <a:spcPct val="130000"/>
              </a:lnSpc>
              <a:spcAft>
                <a:spcPts val="500"/>
              </a:spcAft>
            </a:pPr>
            <a:r>
              <a:rPr sz="1200" b="0" dirty="0">
                <a:solidFill>
                  <a:srgbClr val="595C62"/>
                </a:solidFill>
                <a:latin typeface="Montserrat"/>
              </a:rPr>
              <a:t>Averages are pulled up by a small number of very heavy users, up to 394 prescriptions in one case, so the median is the better guide to a typical patient. And only prescriptions appear here: in Germany most everyday painkillers are bought over the counter, so real use is higher than any figure shown.</a:t>
            </a:r>
          </a:p>
        </p:txBody>
      </p:sp>
      <p:sp>
        <p:nvSpPr>
          <p:cNvPr id="17" name="TextBox 16"/>
          <p:cNvSpPr txBox="1"/>
          <p:nvPr/>
        </p:nvSpPr>
        <p:spPr>
          <a:xfrm>
            <a:off x="502920" y="4892040"/>
            <a:ext cx="10607040" cy="548640"/>
          </a:xfrm>
          <a:prstGeom prst="rect">
            <a:avLst/>
          </a:prstGeom>
          <a:noFill/>
        </p:spPr>
        <p:txBody>
          <a:bodyPr wrap="square" lIns="0" tIns="0" rIns="0" bIns="0" anchor="t">
            <a:spAutoFit/>
          </a:bodyPr>
          <a:lstStyle/>
          <a:p>
            <a:pPr algn="l">
              <a:lnSpc>
                <a:spcPct val="130000"/>
              </a:lnSpc>
              <a:spcAft>
                <a:spcPts val="500"/>
              </a:spcAft>
            </a:pPr>
            <a:r>
              <a:rPr sz="1250" b="0">
                <a:solidFill>
                  <a:srgbClr val="171717"/>
                </a:solidFill>
                <a:latin typeface="Montserrat"/>
              </a:rPr>
              <a:t>"Treated" means at least one painkiller prescription during follow-up. Patients with none are excluded from the treatment-pattern tables, which is why those denominators are smaller.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rPr dirty="0"/>
              <a:t>Drug mix, share-versus-count </a:t>
            </a:r>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Share of each group's own prescriptions, by painkiller family.</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4</a:t>
            </a:r>
          </a:p>
        </p:txBody>
      </p:sp>
      <p:sp>
        <p:nvSpPr>
          <p:cNvPr id="5" name="Rectangle 4"/>
          <p:cNvSpPr/>
          <p:nvPr/>
        </p:nvSpPr>
        <p:spPr>
          <a:xfrm>
            <a:off x="502920" y="137160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 y="1325880"/>
            <a:ext cx="2194560" cy="237744"/>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7160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889504" y="1325880"/>
            <a:ext cx="2194560" cy="237744"/>
          </a:xfrm>
          <a:prstGeom prst="rect">
            <a:avLst/>
          </a:prstGeom>
          <a:noFill/>
        </p:spPr>
        <p:txBody>
          <a:bodyPr wrap="square" lIns="0" tIns="0" rIns="0" bIns="0" anchor="t">
            <a:spAutoFit/>
          </a:bodyPr>
          <a:lstStyle/>
          <a:p>
            <a:pPr algn="l">
              <a:lnSpc>
                <a:spcPct val="120000"/>
              </a:lnSpc>
              <a:spcAft>
                <a:spcPts val="500"/>
              </a:spcAft>
            </a:pPr>
            <a:r>
              <a:rPr sz="1100" b="0" dirty="0">
                <a:solidFill>
                  <a:srgbClr val="595C62"/>
                </a:solidFill>
                <a:latin typeface="Montserrat"/>
              </a:rPr>
              <a:t>Matched controls</a:t>
            </a:r>
          </a:p>
        </p:txBody>
      </p:sp>
      <p:sp>
        <p:nvSpPr>
          <p:cNvPr id="9" name="TextBox 8"/>
          <p:cNvSpPr txBox="1"/>
          <p:nvPr/>
        </p:nvSpPr>
        <p:spPr>
          <a:xfrm>
            <a:off x="502920" y="1664207"/>
            <a:ext cx="1965960" cy="704088"/>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N02C  Migraine-specific</a:t>
            </a:r>
          </a:p>
        </p:txBody>
      </p:sp>
      <p:sp>
        <p:nvSpPr>
          <p:cNvPr id="10" name="Rectangle 9"/>
          <p:cNvSpPr/>
          <p:nvPr/>
        </p:nvSpPr>
        <p:spPr>
          <a:xfrm>
            <a:off x="2606039" y="1737360"/>
            <a:ext cx="343781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53585" y="1764792"/>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31.9%</a:t>
            </a:r>
          </a:p>
        </p:txBody>
      </p:sp>
      <p:sp>
        <p:nvSpPr>
          <p:cNvPr id="12" name="Rectangle 11"/>
          <p:cNvSpPr/>
          <p:nvPr/>
        </p:nvSpPr>
        <p:spPr>
          <a:xfrm>
            <a:off x="2606039" y="2039112"/>
            <a:ext cx="431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58875" y="2066543"/>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0.4%</a:t>
            </a:r>
          </a:p>
        </p:txBody>
      </p:sp>
      <p:sp>
        <p:nvSpPr>
          <p:cNvPr id="14" name="TextBox 13"/>
          <p:cNvSpPr txBox="1"/>
          <p:nvPr/>
        </p:nvSpPr>
        <p:spPr>
          <a:xfrm>
            <a:off x="502920" y="2514600"/>
            <a:ext cx="1965960" cy="704088"/>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N02B  Everyday analgesics</a:t>
            </a:r>
          </a:p>
        </p:txBody>
      </p:sp>
      <p:sp>
        <p:nvSpPr>
          <p:cNvPr id="15" name="Rectangle 14"/>
          <p:cNvSpPr/>
          <p:nvPr/>
        </p:nvSpPr>
        <p:spPr>
          <a:xfrm>
            <a:off x="2606039" y="2587752"/>
            <a:ext cx="5065122"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80890" y="2615184"/>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47.0%</a:t>
            </a:r>
          </a:p>
        </p:txBody>
      </p:sp>
      <p:sp>
        <p:nvSpPr>
          <p:cNvPr id="17" name="Rectangle 16"/>
          <p:cNvSpPr/>
          <p:nvPr/>
        </p:nvSpPr>
        <p:spPr>
          <a:xfrm>
            <a:off x="2606039" y="2889504"/>
            <a:ext cx="724204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57815" y="2916936"/>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67.2%</a:t>
            </a:r>
          </a:p>
        </p:txBody>
      </p:sp>
      <p:sp>
        <p:nvSpPr>
          <p:cNvPr id="19" name="TextBox 18"/>
          <p:cNvSpPr txBox="1"/>
          <p:nvPr/>
        </p:nvSpPr>
        <p:spPr>
          <a:xfrm>
            <a:off x="502920" y="3364992"/>
            <a:ext cx="1965960" cy="704088"/>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N02A  Opioids</a:t>
            </a:r>
          </a:p>
        </p:txBody>
      </p:sp>
      <p:sp>
        <p:nvSpPr>
          <p:cNvPr id="20" name="Rectangle 19"/>
          <p:cNvSpPr/>
          <p:nvPr/>
        </p:nvSpPr>
        <p:spPr>
          <a:xfrm>
            <a:off x="2606039" y="3438144"/>
            <a:ext cx="226313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978907" y="3465576"/>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21.0%</a:t>
            </a:r>
          </a:p>
        </p:txBody>
      </p:sp>
      <p:sp>
        <p:nvSpPr>
          <p:cNvPr id="22" name="Rectangle 21"/>
          <p:cNvSpPr/>
          <p:nvPr/>
        </p:nvSpPr>
        <p:spPr>
          <a:xfrm>
            <a:off x="2606039" y="3739896"/>
            <a:ext cx="3491701"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07469" y="3767328"/>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32.4%</a:t>
            </a:r>
          </a:p>
        </p:txBody>
      </p:sp>
      <p:sp>
        <p:nvSpPr>
          <p:cNvPr id="24" name="TextBox 23"/>
          <p:cNvSpPr txBox="1"/>
          <p:nvPr/>
        </p:nvSpPr>
        <p:spPr>
          <a:xfrm>
            <a:off x="502920" y="4114800"/>
            <a:ext cx="1060704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Shares and counts answer different questions</a:t>
            </a:r>
          </a:p>
        </p:txBody>
      </p:sp>
      <p:sp>
        <p:nvSpPr>
          <p:cNvPr id="25" name="TextBox 24"/>
          <p:cNvSpPr txBox="1"/>
          <p:nvPr/>
        </p:nvSpPr>
        <p:spPr>
          <a:xfrm>
            <a:off x="502920" y="4443984"/>
            <a:ext cx="10607040" cy="640080"/>
          </a:xfrm>
          <a:prstGeom prst="rect">
            <a:avLst/>
          </a:prstGeom>
          <a:noFill/>
        </p:spPr>
        <p:txBody>
          <a:bodyPr wrap="square" lIns="0" tIns="0" rIns="0" bIns="0" anchor="t">
            <a:spAutoFit/>
          </a:bodyPr>
          <a:lstStyle/>
          <a:p>
            <a:pPr algn="l">
              <a:lnSpc>
                <a:spcPct val="130000"/>
              </a:lnSpc>
              <a:spcAft>
                <a:spcPts val="500"/>
              </a:spcAft>
            </a:pPr>
            <a:r>
              <a:rPr sz="1200" b="0" dirty="0">
                <a:solidFill>
                  <a:srgbClr val="595C62"/>
                </a:solidFill>
                <a:latin typeface="Montserrat"/>
              </a:rPr>
              <a:t>These are shares of each group's own prescribing, so the two columns are not on the same base. Headache patients receive about four times more prescriptions overall, so a smaller share can still be more medication: the matched group's 32.4% opioid share is 68,911 prescriptions, while the headache group's smaller 21.0% share is 178,881.</a:t>
            </a:r>
          </a:p>
        </p:txBody>
      </p:sp>
      <p:sp>
        <p:nvSpPr>
          <p:cNvPr id="26" name="TextBox 25"/>
          <p:cNvSpPr txBox="1"/>
          <p:nvPr/>
        </p:nvSpPr>
        <p:spPr>
          <a:xfrm>
            <a:off x="502920" y="5303520"/>
            <a:ext cx="10607040" cy="640080"/>
          </a:xfrm>
          <a:prstGeom prst="rect">
            <a:avLst/>
          </a:prstGeom>
          <a:noFill/>
        </p:spPr>
        <p:txBody>
          <a:bodyPr wrap="square" lIns="0" tIns="0" rIns="0" bIns="0" anchor="t">
            <a:spAutoFit/>
          </a:bodyPr>
          <a:lstStyle/>
          <a:p>
            <a:pPr algn="l">
              <a:lnSpc>
                <a:spcPct val="130000"/>
              </a:lnSpc>
              <a:spcAft>
                <a:spcPts val="500"/>
              </a:spcAft>
            </a:pPr>
            <a:r>
              <a:rPr sz="1200" b="0">
                <a:solidFill>
                  <a:srgbClr val="171717"/>
                </a:solidFill>
                <a:latin typeface="Montserrat"/>
              </a:rPr>
              <a:t>The migraine-specific row is also the study's main check that the matching worked: 31.9% against 0.4% is the difference you would expect if one group has migraine and the other does not.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Lines of therapy, and how a line is counted</a:t>
            </a:r>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A line ends when the patient changes drug, or stops for longer than a month.</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5</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 y="1298448"/>
            <a:ext cx="2194560" cy="237744"/>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889504" y="1298448"/>
            <a:ext cx="2194560" cy="237744"/>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621792"/>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1 line</a:t>
            </a:r>
          </a:p>
        </p:txBody>
      </p:sp>
      <p:sp>
        <p:nvSpPr>
          <p:cNvPr id="10" name="Rectangle 9"/>
          <p:cNvSpPr/>
          <p:nvPr/>
        </p:nvSpPr>
        <p:spPr>
          <a:xfrm>
            <a:off x="2606039" y="1700784"/>
            <a:ext cx="4450842"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66609" y="1728216"/>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35.4%</a:t>
            </a:r>
          </a:p>
        </p:txBody>
      </p:sp>
      <p:sp>
        <p:nvSpPr>
          <p:cNvPr id="12" name="Rectangle 11"/>
          <p:cNvSpPr/>
          <p:nvPr/>
        </p:nvSpPr>
        <p:spPr>
          <a:xfrm>
            <a:off x="2606039" y="1956816"/>
            <a:ext cx="7003161"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18928" y="1984248"/>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55.7%</a:t>
            </a:r>
          </a:p>
        </p:txBody>
      </p:sp>
      <p:sp>
        <p:nvSpPr>
          <p:cNvPr id="14" name="TextBox 13"/>
          <p:cNvSpPr txBox="1"/>
          <p:nvPr/>
        </p:nvSpPr>
        <p:spPr>
          <a:xfrm>
            <a:off x="502920" y="2340864"/>
            <a:ext cx="1965960" cy="621792"/>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2 lines</a:t>
            </a:r>
          </a:p>
        </p:txBody>
      </p:sp>
      <p:sp>
        <p:nvSpPr>
          <p:cNvPr id="15" name="Rectangle 14"/>
          <p:cNvSpPr/>
          <p:nvPr/>
        </p:nvSpPr>
        <p:spPr>
          <a:xfrm>
            <a:off x="2606039" y="2414016"/>
            <a:ext cx="2338578"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54345" y="2441448"/>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18.6%</a:t>
            </a:r>
          </a:p>
        </p:txBody>
      </p:sp>
      <p:sp>
        <p:nvSpPr>
          <p:cNvPr id="17" name="Rectangle 16"/>
          <p:cNvSpPr/>
          <p:nvPr/>
        </p:nvSpPr>
        <p:spPr>
          <a:xfrm>
            <a:off x="2606039" y="2670048"/>
            <a:ext cx="2300859"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16626" y="2697479"/>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18.3%</a:t>
            </a:r>
          </a:p>
        </p:txBody>
      </p:sp>
      <p:sp>
        <p:nvSpPr>
          <p:cNvPr id="19" name="TextBox 18"/>
          <p:cNvSpPr txBox="1"/>
          <p:nvPr/>
        </p:nvSpPr>
        <p:spPr>
          <a:xfrm>
            <a:off x="502920" y="3054096"/>
            <a:ext cx="1965960" cy="621792"/>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3 lines</a:t>
            </a:r>
          </a:p>
        </p:txBody>
      </p:sp>
      <p:sp>
        <p:nvSpPr>
          <p:cNvPr id="20" name="Rectangle 19"/>
          <p:cNvSpPr/>
          <p:nvPr/>
        </p:nvSpPr>
        <p:spPr>
          <a:xfrm>
            <a:off x="2606039" y="3127248"/>
            <a:ext cx="1395603"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111370" y="3154679"/>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11.1%</a:t>
            </a:r>
          </a:p>
        </p:txBody>
      </p:sp>
      <p:sp>
        <p:nvSpPr>
          <p:cNvPr id="22" name="Rectangle 21"/>
          <p:cNvSpPr/>
          <p:nvPr/>
        </p:nvSpPr>
        <p:spPr>
          <a:xfrm>
            <a:off x="2606039" y="3383279"/>
            <a:ext cx="10058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21607" y="3410711"/>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8.0%</a:t>
            </a:r>
          </a:p>
        </p:txBody>
      </p:sp>
      <p:sp>
        <p:nvSpPr>
          <p:cNvPr id="24" name="TextBox 23"/>
          <p:cNvSpPr txBox="1"/>
          <p:nvPr/>
        </p:nvSpPr>
        <p:spPr>
          <a:xfrm>
            <a:off x="502920" y="3767328"/>
            <a:ext cx="1965960" cy="621792"/>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4 or more lines</a:t>
            </a:r>
          </a:p>
        </p:txBody>
      </p:sp>
      <p:sp>
        <p:nvSpPr>
          <p:cNvPr id="25" name="Rectangle 24"/>
          <p:cNvSpPr/>
          <p:nvPr/>
        </p:nvSpPr>
        <p:spPr>
          <a:xfrm>
            <a:off x="2606039" y="3840480"/>
            <a:ext cx="4400550"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116317" y="3867912"/>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35.0%</a:t>
            </a:r>
          </a:p>
        </p:txBody>
      </p:sp>
      <p:sp>
        <p:nvSpPr>
          <p:cNvPr id="27" name="Rectangle 26"/>
          <p:cNvSpPr/>
          <p:nvPr/>
        </p:nvSpPr>
        <p:spPr>
          <a:xfrm>
            <a:off x="2606039" y="4096512"/>
            <a:ext cx="22631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978907" y="4123944"/>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18.0%</a:t>
            </a:r>
          </a:p>
        </p:txBody>
      </p:sp>
      <p:sp>
        <p:nvSpPr>
          <p:cNvPr id="29" name="TextBox 28"/>
          <p:cNvSpPr txBox="1"/>
          <p:nvPr/>
        </p:nvSpPr>
        <p:spPr>
          <a:xfrm>
            <a:off x="502920" y="4462272"/>
            <a:ext cx="10607040" cy="274320"/>
          </a:xfrm>
          <a:prstGeom prst="rect">
            <a:avLst/>
          </a:prstGeom>
          <a:noFill/>
        </p:spPr>
        <p:txBody>
          <a:bodyPr wrap="square" lIns="0" tIns="0" rIns="0" bIns="0" anchor="t">
            <a:spAutoFit/>
          </a:bodyPr>
          <a:lstStyle/>
          <a:p>
            <a:pPr algn="l">
              <a:lnSpc>
                <a:spcPct val="120000"/>
              </a:lnSpc>
              <a:spcAft>
                <a:spcPts val="500"/>
              </a:spcAft>
            </a:pPr>
            <a:r>
              <a:rPr sz="1300" b="1" dirty="0">
                <a:solidFill>
                  <a:srgbClr val="171717"/>
                </a:solidFill>
                <a:latin typeface="Montserrat"/>
              </a:rPr>
              <a:t>What counts as a switch</a:t>
            </a:r>
          </a:p>
        </p:txBody>
      </p:sp>
      <p:sp>
        <p:nvSpPr>
          <p:cNvPr id="30" name="TextBox 29"/>
          <p:cNvSpPr txBox="1"/>
          <p:nvPr/>
        </p:nvSpPr>
        <p:spPr>
          <a:xfrm>
            <a:off x="502920" y="4800600"/>
            <a:ext cx="10607040" cy="822960"/>
          </a:xfrm>
          <a:prstGeom prst="rect">
            <a:avLst/>
          </a:prstGeom>
          <a:noFill/>
        </p:spPr>
        <p:txBody>
          <a:bodyPr wrap="square" lIns="0" tIns="0" rIns="0" bIns="0" anchor="t">
            <a:spAutoFit/>
          </a:bodyPr>
          <a:lstStyle/>
          <a:p>
            <a:pPr algn="l">
              <a:lnSpc>
                <a:spcPct val="130000"/>
              </a:lnSpc>
              <a:spcAft>
                <a:spcPts val="500"/>
              </a:spcAft>
            </a:pPr>
            <a:r>
              <a:rPr sz="1200" b="0">
                <a:solidFill>
                  <a:srgbClr val="595C62"/>
                </a:solidFill>
                <a:latin typeface="Montserrat"/>
              </a:rPr>
              <a:t>A new line is counted whenever the molecule changes or there is a gap of more than a month, so a line is a course of one drug rather than a considered change of treatment. Repeats of the same drug after a long gap count as a new line too.</a:t>
            </a:r>
          </a:p>
        </p:txBody>
      </p:sp>
      <p:sp>
        <p:nvSpPr>
          <p:cNvPr id="31" name="TextBox 30"/>
          <p:cNvSpPr txBox="1"/>
          <p:nvPr/>
        </p:nvSpPr>
        <p:spPr>
          <a:xfrm>
            <a:off x="502920" y="5623560"/>
            <a:ext cx="10607040" cy="548640"/>
          </a:xfrm>
          <a:prstGeom prst="rect">
            <a:avLst/>
          </a:prstGeom>
          <a:noFill/>
        </p:spPr>
        <p:txBody>
          <a:bodyPr wrap="square" lIns="0" tIns="0" rIns="0" bIns="0" anchor="t">
            <a:spAutoFit/>
          </a:bodyPr>
          <a:lstStyle/>
          <a:p>
            <a:pPr algn="l">
              <a:lnSpc>
                <a:spcPct val="130000"/>
              </a:lnSpc>
              <a:spcAft>
                <a:spcPts val="500"/>
              </a:spcAft>
            </a:pPr>
            <a:r>
              <a:rPr sz="1250" b="0">
                <a:solidFill>
                  <a:srgbClr val="171717"/>
                </a:solidFill>
                <a:latin typeface="Montserrat"/>
              </a:rPr>
              <a:t>Persistence, meaning how long someone stays on treatment before stopping or switching, is 13 days in both groups. Two thirds of first courses are a single prescription with nothing after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Adherence, and why it is not a finding here</a:t>
            </a:r>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How often a painkiller prescription says how long to take it for. Treated patients only.</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6</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 y="1298448"/>
            <a:ext cx="2194560" cy="237744"/>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889504" y="1298448"/>
            <a:ext cx="2194560" cy="237744"/>
          </a:xfrm>
          <a:prstGeom prst="rect">
            <a:avLst/>
          </a:prstGeom>
          <a:noFill/>
        </p:spPr>
        <p:txBody>
          <a:bodyPr wrap="square" lIns="0" tIns="0" r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40664"/>
          </a:xfrm>
          <a:prstGeom prst="rect">
            <a:avLst/>
          </a:prstGeom>
          <a:noFill/>
        </p:spPr>
        <p:txBody>
          <a:bodyPr wrap="square" lIns="0" tIns="0" rIns="0" bIns="0" anchor="ctr">
            <a:spAutoFit/>
          </a:bodyPr>
          <a:lstStyle/>
          <a:p>
            <a:pPr algn="l">
              <a:lnSpc>
                <a:spcPct val="120000"/>
              </a:lnSpc>
              <a:spcAft>
                <a:spcPts val="0"/>
              </a:spcAft>
            </a:pPr>
            <a:r>
              <a:rPr sz="1150" b="0">
                <a:solidFill>
                  <a:srgbClr val="171717"/>
                </a:solidFill>
                <a:latin typeface="Montserrat"/>
              </a:rPr>
              <a:t>Says how long to take it</a:t>
            </a:r>
          </a:p>
        </p:txBody>
      </p:sp>
      <p:sp>
        <p:nvSpPr>
          <p:cNvPr id="10" name="Rectangle 9"/>
          <p:cNvSpPr/>
          <p:nvPr/>
        </p:nvSpPr>
        <p:spPr>
          <a:xfrm>
            <a:off x="2606039" y="1737360"/>
            <a:ext cx="4675000" cy="274320"/>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90767" y="1764792"/>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22%</a:t>
            </a:r>
          </a:p>
        </p:txBody>
      </p:sp>
      <p:sp>
        <p:nvSpPr>
          <p:cNvPr id="12" name="Rectangle 11"/>
          <p:cNvSpPr/>
          <p:nvPr/>
        </p:nvSpPr>
        <p:spPr>
          <a:xfrm>
            <a:off x="2606039" y="2057400"/>
            <a:ext cx="6800000" cy="274320"/>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15767" y="2084831"/>
            <a:ext cx="1005840" cy="237744"/>
          </a:xfrm>
          <a:prstGeom prst="rect">
            <a:avLst/>
          </a:prstGeom>
          <a:noFill/>
        </p:spPr>
        <p:txBody>
          <a:bodyPr wrap="square" lIns="0" tIns="0" rIns="0" bIns="0" anchor="t">
            <a:spAutoFit/>
          </a:bodyPr>
          <a:lstStyle/>
          <a:p>
            <a:pPr algn="l">
              <a:lnSpc>
                <a:spcPct val="120000"/>
              </a:lnSpc>
              <a:spcAft>
                <a:spcPts val="500"/>
              </a:spcAft>
            </a:pPr>
            <a:r>
              <a:rPr sz="1100" b="0">
                <a:solidFill>
                  <a:srgbClr val="171717"/>
                </a:solidFill>
                <a:latin typeface="Montserrat"/>
              </a:rPr>
              <a:t>32%</a:t>
            </a:r>
          </a:p>
        </p:txBody>
      </p:sp>
      <p:sp>
        <p:nvSpPr>
          <p:cNvPr id="19" name="TextBox 18"/>
          <p:cNvSpPr txBox="1"/>
          <p:nvPr/>
        </p:nvSpPr>
        <p:spPr>
          <a:xfrm>
            <a:off x="502920" y="2791840"/>
            <a:ext cx="1060704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The difference is about which drugs, not about the patients</a:t>
            </a:r>
          </a:p>
        </p:txBody>
      </p:sp>
      <p:sp>
        <p:nvSpPr>
          <p:cNvPr id="20" name="TextBox 19"/>
          <p:cNvSpPr txBox="1"/>
          <p:nvPr/>
        </p:nvSpPr>
        <p:spPr>
          <a:xfrm>
            <a:off x="502920" y="3130168"/>
            <a:ext cx="10607040" cy="914400"/>
          </a:xfrm>
          <a:prstGeom prst="rect">
            <a:avLst/>
          </a:prstGeom>
          <a:noFill/>
        </p:spPr>
        <p:txBody>
          <a:bodyPr wrap="square" lIns="0" tIns="0" rIns="0" bIns="0" anchor="t">
            <a:spAutoFit/>
          </a:bodyPr>
          <a:lstStyle/>
          <a:p>
            <a:pPr algn="l">
              <a:lnSpc>
                <a:spcPct val="130000"/>
              </a:lnSpc>
              <a:spcAft>
                <a:spcPts val="500"/>
              </a:spcAft>
            </a:pPr>
            <a:r>
              <a:rPr sz="1200" b="0">
                <a:solidFill>
                  <a:srgbClr val="595C62"/>
                </a:solidFill>
                <a:latin typeface="Montserrat"/>
              </a:rPr>
              <a:t>Migraine-specific drugs almost never come with a duration: 3% of the time, against 28% for everyday painkillers and 35% for opioids. For the same drug, both groups record it equally often. Headache patients differ only because more of what they get is migraine-specific, and those drugs are taken when an attack starts.</a:t>
            </a:r>
          </a:p>
        </p:txBody>
      </p:sp>
      <p:sp>
        <p:nvSpPr>
          <p:cNvPr id="21" name="TextBox 20"/>
          <p:cNvSpPr txBox="1"/>
          <p:nvPr/>
        </p:nvSpPr>
        <p:spPr>
          <a:xfrm>
            <a:off x="502920" y="4209160"/>
            <a:ext cx="10607040" cy="274320"/>
          </a:xfrm>
          <a:prstGeom prst="rect">
            <a:avLst/>
          </a:prstGeom>
          <a:noFill/>
        </p:spPr>
        <p:txBody>
          <a:bodyPr wrap="square" lIns="0" tIns="0" rIns="0" bIns="0" anchor="t">
            <a:spAutoFit/>
          </a:bodyPr>
          <a:lstStyle/>
          <a:p>
            <a:pPr algn="l">
              <a:lnSpc>
                <a:spcPct val="120000"/>
              </a:lnSpc>
              <a:spcAft>
                <a:spcPts val="500"/>
              </a:spcAft>
            </a:pPr>
            <a:r>
              <a:rPr sz="1300" b="1">
                <a:solidFill>
                  <a:srgbClr val="171717"/>
                </a:solidFill>
                <a:latin typeface="Montserrat"/>
              </a:rPr>
              <a:t>What the adherence rows actually mean</a:t>
            </a:r>
          </a:p>
        </p:txBody>
      </p:sp>
      <p:sp>
        <p:nvSpPr>
          <p:cNvPr id="22" name="TextBox 21"/>
          <p:cNvSpPr txBox="1"/>
          <p:nvPr/>
        </p:nvSpPr>
        <p:spPr>
          <a:xfrm>
            <a:off x="502920" y="4547488"/>
            <a:ext cx="10607040" cy="822960"/>
          </a:xfrm>
          <a:prstGeom prst="rect">
            <a:avLst/>
          </a:prstGeom>
          <a:noFill/>
        </p:spPr>
        <p:txBody>
          <a:bodyPr wrap="square" lIns="0" tIns="0" rIns="0" bIns="0" anchor="t">
            <a:spAutoFit/>
          </a:bodyPr>
          <a:lstStyle/>
          <a:p>
            <a:pPr algn="l">
              <a:lnSpc>
                <a:spcPct val="130000"/>
              </a:lnSpc>
              <a:spcAft>
                <a:spcPts val="500"/>
              </a:spcAft>
            </a:pPr>
            <a:r>
              <a:rPr sz="1200" b="0">
                <a:solidFill>
                  <a:srgbClr val="595C62"/>
                </a:solidFill>
                <a:latin typeface="Montserrat"/>
              </a:rPr>
              <a:t>Adherence is measured as the share of days a patient has medication in hand. Over the same year, 1.6% of headache patients and 1.9% of matched patients reach the usual 80% mark. That is not evidence of poor adherence. It is a measure built for drugs taken every day, applied to drugs taken only when an attack starts.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rPr lang="en-US" dirty="0"/>
              <a:t>What we DON’T know</a:t>
            </a:r>
            <a:endParaRPr dirty="0"/>
          </a:p>
        </p:txBody>
      </p:sp>
      <p:sp>
        <p:nvSpPr>
          <p:cNvPr id="3" name="TextBox 2"/>
          <p:cNvSpPr txBox="1"/>
          <p:nvPr/>
        </p:nvSpPr>
        <p:spPr>
          <a:xfrm>
            <a:off x="502920" y="859536"/>
            <a:ext cx="10881360" cy="310896"/>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Five limits that matter when reading the tables.</a:t>
            </a:r>
          </a:p>
        </p:txBody>
      </p:sp>
      <p:sp>
        <p:nvSpPr>
          <p:cNvPr id="4" name="TextBox 3"/>
          <p:cNvSpPr txBox="1"/>
          <p:nvPr/>
        </p:nvSpPr>
        <p:spPr>
          <a:xfrm>
            <a:off x="11292840" y="6355080"/>
            <a:ext cx="457200" cy="274320"/>
          </a:xfrm>
          <a:prstGeom prst="rect">
            <a:avLst/>
          </a:prstGeom>
          <a:noFill/>
        </p:spPr>
        <p:txBody>
          <a:bodyPr wrap="square" lIns="0" tIns="0" rIns="0" bIns="0" anchor="t">
            <a:spAutoFit/>
          </a:bodyPr>
          <a:lstStyle/>
          <a:p>
            <a:pPr algn="r">
              <a:lnSpc>
                <a:spcPct val="120000"/>
              </a:lnSpc>
              <a:spcAft>
                <a:spcPts val="500"/>
              </a:spcAft>
            </a:pPr>
            <a:r>
              <a:rPr sz="900" b="0">
                <a:solidFill>
                  <a:srgbClr val="595C62"/>
                </a:solidFill>
                <a:latin typeface="Montserrat"/>
              </a:rPr>
              <a:t>7</a:t>
            </a:r>
          </a:p>
        </p:txBody>
      </p:sp>
      <p:sp>
        <p:nvSpPr>
          <p:cNvPr id="5" name="TextBox 4"/>
          <p:cNvSpPr txBox="1"/>
          <p:nvPr/>
        </p:nvSpPr>
        <p:spPr>
          <a:xfrm>
            <a:off x="502920" y="1298448"/>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298448"/>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Over-the-counter use is invisible</a:t>
            </a:r>
          </a:p>
        </p:txBody>
      </p:sp>
      <p:sp>
        <p:nvSpPr>
          <p:cNvPr id="7" name="TextBox 6"/>
          <p:cNvSpPr txBox="1"/>
          <p:nvPr/>
        </p:nvSpPr>
        <p:spPr>
          <a:xfrm>
            <a:off x="731520" y="1554480"/>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In Germany most everyday painkillers are bought without a prescription. None of that appears here, so real painkiller use is higher than shown. The 1.96% overuse figure is an undercount.</a:t>
            </a:r>
          </a:p>
        </p:txBody>
      </p:sp>
      <p:sp>
        <p:nvSpPr>
          <p:cNvPr id="8" name="TextBox 7"/>
          <p:cNvSpPr txBox="1"/>
          <p:nvPr/>
        </p:nvSpPr>
        <p:spPr>
          <a:xfrm>
            <a:off x="502920" y="2084831"/>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084831"/>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Prescriptions written, not pills taken</a:t>
            </a:r>
          </a:p>
        </p:txBody>
      </p:sp>
      <p:sp>
        <p:nvSpPr>
          <p:cNvPr id="10" name="TextBox 9"/>
          <p:cNvSpPr txBox="1"/>
          <p:nvPr/>
        </p:nvSpPr>
        <p:spPr>
          <a:xfrm>
            <a:off x="731520" y="2340863"/>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The data records what a doctor prescribed. Adherence tracks whether patients kept collecting medication, which is a stand-in for taking it, not a measure of it.</a:t>
            </a:r>
          </a:p>
        </p:txBody>
      </p:sp>
      <p:sp>
        <p:nvSpPr>
          <p:cNvPr id="11" name="TextBox 10"/>
          <p:cNvSpPr txBox="1"/>
          <p:nvPr/>
        </p:nvSpPr>
        <p:spPr>
          <a:xfrm>
            <a:off x="502920" y="2871215"/>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871215"/>
            <a:ext cx="10378440" cy="256032"/>
          </a:xfrm>
          <a:prstGeom prst="rect">
            <a:avLst/>
          </a:prstGeom>
          <a:noFill/>
        </p:spPr>
        <p:txBody>
          <a:bodyPr wrap="square" lIns="0" tIns="0" rIns="0" bIns="0" anchor="t">
            <a:spAutoFit/>
          </a:bodyPr>
          <a:lstStyle/>
          <a:p>
            <a:pPr algn="l">
              <a:lnSpc>
                <a:spcPct val="120000"/>
              </a:lnSpc>
              <a:spcAft>
                <a:spcPts val="500"/>
              </a:spcAft>
            </a:pPr>
            <a:r>
              <a:rPr sz="1200" b="1" dirty="0">
                <a:solidFill>
                  <a:srgbClr val="171717"/>
                </a:solidFill>
                <a:latin typeface="Montserrat"/>
              </a:rPr>
              <a:t>Days supply, how long a prescription is meant to last, is often not recorded</a:t>
            </a:r>
          </a:p>
        </p:txBody>
      </p:sp>
      <p:sp>
        <p:nvSpPr>
          <p:cNvPr id="13" name="TextBox 12"/>
          <p:cNvSpPr txBox="1"/>
          <p:nvPr/>
        </p:nvSpPr>
        <p:spPr>
          <a:xfrm>
            <a:off x="731520" y="3127248"/>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Three quarters of prescriptions do not say how long to take the medication. Those are filled in using the typical length recorded for that same drug. Course length, switching and coverage all depend on it.</a:t>
            </a:r>
          </a:p>
        </p:txBody>
      </p:sp>
      <p:sp>
        <p:nvSpPr>
          <p:cNvPr id="14" name="TextBox 13"/>
          <p:cNvSpPr txBox="1"/>
          <p:nvPr/>
        </p:nvSpPr>
        <p:spPr>
          <a:xfrm>
            <a:off x="502920" y="3657599"/>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657599"/>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The adherence window starts at diagnosis</a:t>
            </a:r>
          </a:p>
        </p:txBody>
      </p:sp>
      <p:sp>
        <p:nvSpPr>
          <p:cNvPr id="16" name="TextBox 15"/>
          <p:cNvSpPr txBox="1"/>
          <p:nvPr/>
        </p:nvSpPr>
        <p:spPr>
          <a:xfrm>
            <a:off x="731520" y="3913631"/>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We look at the year following diagnosis, so someone who starts treatment late in that year scores close to zero. It describes the first year only, not treatment over a lifetime.</a:t>
            </a:r>
          </a:p>
        </p:txBody>
      </p:sp>
      <p:sp>
        <p:nvSpPr>
          <p:cNvPr id="17" name="TextBox 16"/>
          <p:cNvSpPr txBox="1"/>
          <p:nvPr/>
        </p:nvSpPr>
        <p:spPr>
          <a:xfrm>
            <a:off x="502920" y="4443983"/>
            <a:ext cx="182880" cy="274320"/>
          </a:xfrm>
          <a:prstGeom prst="rect">
            <a:avLst/>
          </a:prstGeom>
          <a:noFill/>
        </p:spPr>
        <p:txBody>
          <a:bodyPr wrap="square" lIns="0" tIns="0" rIns="0" bIns="0" anchor="t">
            <a:spAutoFit/>
          </a:bodyPr>
          <a:lstStyle/>
          <a:p>
            <a:pPr algn="l">
              <a:lnSpc>
                <a:spcPct val="120000"/>
              </a:lnSpc>
              <a:spcAft>
                <a:spcPts val="500"/>
              </a:spcAft>
            </a:pPr>
            <a:r>
              <a:rPr sz="1200" b="0">
                <a:solidFill>
                  <a:srgbClr val="171717"/>
                </a:solidFill>
                <a:latin typeface="Montserrat"/>
              </a:rPr>
              <a:t>•</a:t>
            </a:r>
          </a:p>
        </p:txBody>
      </p:sp>
      <p:sp>
        <p:nvSpPr>
          <p:cNvPr id="18" name="TextBox 17"/>
          <p:cNvSpPr txBox="1"/>
          <p:nvPr/>
        </p:nvSpPr>
        <p:spPr>
          <a:xfrm>
            <a:off x="731520" y="4443983"/>
            <a:ext cx="10378440" cy="256032"/>
          </a:xfrm>
          <a:prstGeom prst="rect">
            <a:avLst/>
          </a:prstGeom>
          <a:noFill/>
        </p:spPr>
        <p:txBody>
          <a:bodyPr wrap="square" lIns="0" tIns="0" rIns="0" bIns="0" anchor="t">
            <a:spAutoFit/>
          </a:bodyPr>
          <a:lstStyle/>
          <a:p>
            <a:pPr algn="l">
              <a:lnSpc>
                <a:spcPct val="120000"/>
              </a:lnSpc>
              <a:spcAft>
                <a:spcPts val="500"/>
              </a:spcAft>
            </a:pPr>
            <a:r>
              <a:rPr sz="1200" b="1">
                <a:solidFill>
                  <a:srgbClr val="171717"/>
                </a:solidFill>
                <a:latin typeface="Montserrat"/>
              </a:rPr>
              <a:t>The quantity field is unusable</a:t>
            </a:r>
          </a:p>
        </p:txBody>
      </p:sp>
      <p:sp>
        <p:nvSpPr>
          <p:cNvPr id="19" name="TextBox 18"/>
          <p:cNvSpPr txBox="1"/>
          <p:nvPr/>
        </p:nvSpPr>
        <p:spPr>
          <a:xfrm>
            <a:off x="731520" y="4700016"/>
            <a:ext cx="10378440" cy="548640"/>
          </a:xfrm>
          <a:prstGeom prst="rect">
            <a:avLst/>
          </a:prstGeom>
          <a:noFill/>
        </p:spPr>
        <p:txBody>
          <a:bodyPr wrap="square" lIns="0" tIns="0" rIns="0" bIns="0" anchor="t">
            <a:spAutoFit/>
          </a:bodyPr>
          <a:lstStyle/>
          <a:p>
            <a:pPr algn="l">
              <a:lnSpc>
                <a:spcPct val="120000"/>
              </a:lnSpc>
              <a:spcAft>
                <a:spcPts val="500"/>
              </a:spcAft>
            </a:pPr>
            <a:r>
              <a:rPr sz="1200" b="0">
                <a:solidFill>
                  <a:srgbClr val="595C62"/>
                </a:solidFill>
                <a:latin typeface="Montserrat"/>
              </a:rPr>
              <a:t>The quantity field is blank on almost every prescription that also lacks a length, and where filled in the values run from 1 to 9.4 million. Total volume dispensed is not reported here.</a:t>
            </a:r>
          </a:p>
        </p:txBody>
      </p:sp>
      <p:sp>
        <p:nvSpPr>
          <p:cNvPr id="20" name="Rectangle 19"/>
          <p:cNvSpPr/>
          <p:nvPr/>
        </p:nvSpPr>
        <p:spPr>
          <a:xfrm>
            <a:off x="502920" y="5303520"/>
            <a:ext cx="1065276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7240" y="5458968"/>
            <a:ext cx="4572000" cy="212751"/>
          </a:xfrm>
          <a:prstGeom prst="rect">
            <a:avLst/>
          </a:prstGeom>
          <a:noFill/>
        </p:spPr>
        <p:txBody>
          <a:bodyPr wrap="square" lIns="0" tIns="0" rIns="0" bIns="0" anchor="t">
            <a:spAutoFit/>
          </a:bodyPr>
          <a:lstStyle/>
          <a:p>
            <a:pPr algn="l">
              <a:lnSpc>
                <a:spcPct val="120000"/>
              </a:lnSpc>
              <a:spcAft>
                <a:spcPts val="500"/>
              </a:spcAft>
            </a:pPr>
            <a:r>
              <a:rPr lang="en-US" sz="1250" b="1" dirty="0">
                <a:solidFill>
                  <a:srgbClr val="171717"/>
                </a:solidFill>
                <a:latin typeface="Montserrat"/>
              </a:rPr>
              <a:t>General conclusion</a:t>
            </a:r>
            <a:endParaRPr sz="1250" b="1" dirty="0">
              <a:solidFill>
                <a:srgbClr val="171717"/>
              </a:solidFill>
              <a:latin typeface="Montserrat"/>
            </a:endParaRPr>
          </a:p>
        </p:txBody>
      </p:sp>
      <p:sp>
        <p:nvSpPr>
          <p:cNvPr id="22" name="TextBox 21"/>
          <p:cNvSpPr txBox="1"/>
          <p:nvPr/>
        </p:nvSpPr>
        <p:spPr>
          <a:xfrm>
            <a:off x="777240" y="5742432"/>
            <a:ext cx="10149840" cy="457200"/>
          </a:xfrm>
          <a:prstGeom prst="rect">
            <a:avLst/>
          </a:prstGeom>
          <a:noFill/>
        </p:spPr>
        <p:txBody>
          <a:bodyPr wrap="square" lIns="0" tIns="0" rIns="0" bIns="0" anchor="t">
            <a:spAutoFit/>
          </a:bodyPr>
          <a:lstStyle/>
          <a:p>
            <a:pPr algn="l">
              <a:lnSpc>
                <a:spcPct val="130000"/>
              </a:lnSpc>
              <a:spcAft>
                <a:spcPts val="500"/>
              </a:spcAft>
            </a:pPr>
            <a:r>
              <a:rPr sz="1200" b="0">
                <a:solidFill>
                  <a:srgbClr val="171717"/>
                </a:solidFill>
                <a:latin typeface="Montserrat"/>
              </a:rPr>
              <a:t>Half of diagnosed headache patients are treated, most with drugs that are not migraine-specific, and a third work through four or more. Most treatment is short and taken as needed.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951yqr7qwVb3VIzjAzzif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Au5mlI_5SaCdkR487yXZgA"/>
</p:tagLst>
</file>

<file path=ppt/theme/theme1.xml><?xml version="1.0" encoding="utf-8"?>
<a:theme xmlns:a="http://schemas.openxmlformats.org/drawingml/2006/main" name="5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6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C7BAB66966A5F4CBB1169870B003EA0" ma:contentTypeVersion="20" ma:contentTypeDescription="Create a new document." ma:contentTypeScope="" ma:versionID="bba14845822a3d669c2b6e60b91cf355">
  <xsd:schema xmlns:xsd="http://www.w3.org/2001/XMLSchema" xmlns:xs="http://www.w3.org/2001/XMLSchema" xmlns:p="http://schemas.microsoft.com/office/2006/metadata/properties" xmlns:ns2="8e91b1a2-cef3-4c16-b949-ce66492d5111" xmlns:ns3="4d2bfd8a-bdc1-4699-b00e-f74152970809" targetNamespace="http://schemas.microsoft.com/office/2006/metadata/properties" ma:root="true" ma:fieldsID="fc6c15c0b4b6d7bbc45144c8b5453437" ns2:_="" ns3:_="">
    <xsd:import namespace="8e91b1a2-cef3-4c16-b949-ce66492d5111"/>
    <xsd:import namespace="4d2bfd8a-bdc1-4699-b00e-f7415297080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ImageMetadataListItemId" minOccurs="0"/>
                <xsd:element ref="ns2:ImageMetadataListFieldId"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91b1a2-cef3-4c16-b949-ce66492d511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ImageMetadataListItemId" ma:index="19" nillable="true" ma:displayName="ImageMetadataListItemId" ma:hidden="true" ma:indexed="true" ma:internalName="ImageMetadataListItemId">
      <xsd:simpleType>
        <xsd:restriction base="dms:Unknown"/>
      </xsd:simpleType>
    </xsd:element>
    <xsd:element name="ImageMetadataListFieldId" ma:index="20" nillable="true" ma:displayName="ImageMetadataListFieldId" ma:hidden="true" ma:indexed="true" ma:internalName="ImageMetadataListFieldId">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aea9b38-78a5-408a-815c-fe483379546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2bfd8a-bdc1-4699-b00e-f74152970809"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bf2052ed-7f7b-4724-8bb0-ba665b6501f8}" ma:internalName="TaxCatchAll" ma:showField="CatchAllData" ma:web="4d2bfd8a-bdc1-4699-b00e-f74152970809">
      <xsd:complexType>
        <xsd:complexContent>
          <xsd:extension base="dms:MultiChoiceLookup">
            <xsd:sequence>
              <xsd:element name="Value" type="dms:Lookup" maxOccurs="unbounded" minOccurs="0" nillable="true"/>
            </xsd:sequence>
          </xsd:extension>
        </xsd:complexContent>
      </xsd:complexType>
    </xsd:element>
    <xsd:element name="SharedWithUsers" ma:index="2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mageMetadataListItemId xmlns="8e91b1a2-cef3-4c16-b949-ce66492d5111" xsi:nil="true"/>
    <lcf76f155ced4ddcb4097134ff3c332f xmlns="8e91b1a2-cef3-4c16-b949-ce66492d5111">
      <Terms xmlns="http://schemas.microsoft.com/office/infopath/2007/PartnerControls"/>
    </lcf76f155ced4ddcb4097134ff3c332f>
    <TaxCatchAll xmlns="4d2bfd8a-bdc1-4699-b00e-f74152970809" xsi:nil="true"/>
    <ImageMetadataListFieldId xmlns="8e91b1a2-cef3-4c16-b949-ce66492d5111" xsi:nil="true"/>
  </documentManagement>
</p:properties>
</file>

<file path=customXml/itemProps1.xml><?xml version="1.0" encoding="utf-8"?>
<ds:datastoreItem xmlns:ds="http://schemas.openxmlformats.org/officeDocument/2006/customXml" ds:itemID="{3C8C6079-235C-44C5-B73A-8D7A2FB3A1DA}">
  <ds:schemaRefs>
    <ds:schemaRef ds:uri="http://schemas.microsoft.com/sharepoint/v3/contenttype/forms"/>
  </ds:schemaRefs>
</ds:datastoreItem>
</file>

<file path=customXml/itemProps2.xml><?xml version="1.0" encoding="utf-8"?>
<ds:datastoreItem xmlns:ds="http://schemas.openxmlformats.org/officeDocument/2006/customXml" ds:itemID="{E4464588-071A-4627-90F2-24D0DB137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91b1a2-cef3-4c16-b949-ce66492d5111"/>
    <ds:schemaRef ds:uri="4d2bfd8a-bdc1-4699-b00e-f741529708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79A575D-F5E4-4E8F-9B75-C7213FDD312F}">
  <ds:schemaRefs>
    <ds:schemaRef ds:uri="http://schemas.microsoft.com/office/2006/metadata/properties"/>
    <ds:schemaRef ds:uri="http://schemas.microsoft.com/office/infopath/2007/PartnerControls"/>
    <ds:schemaRef ds:uri="8e91b1a2-cef3-4c16-b949-ce66492d5111"/>
    <ds:schemaRef ds:uri="4d2bfd8a-bdc1-4699-b00e-f74152970809"/>
  </ds:schemaRefs>
</ds:datastoreItem>
</file>

<file path=docProps/app.xml><?xml version="1.0" encoding="utf-8"?>
<Properties xmlns="http://schemas.openxmlformats.org/officeDocument/2006/extended-properties" xmlns:vt="http://schemas.openxmlformats.org/officeDocument/2006/docPropsVTypes">
  <TotalTime>176</TotalTime>
  <Words>1272</Words>
  <Application>Microsoft Office PowerPoint</Application>
  <PresentationFormat>Widescreen</PresentationFormat>
  <Paragraphs>117</Paragraphs>
  <Slides>7</Slides>
  <Notes>0</Notes>
  <HiddenSlides>0</HiddenSlides>
  <MMClips>0</MMClips>
  <ScaleCrop>false</ScaleCrop>
  <HeadingPairs>
    <vt:vector size="8" baseType="variant">
      <vt:variant>
        <vt:lpstr>Fonts Used</vt:lpstr>
      </vt:variant>
      <vt:variant>
        <vt:i4>12</vt:i4>
      </vt:variant>
      <vt:variant>
        <vt:lpstr>Theme</vt:lpstr>
      </vt:variant>
      <vt:variant>
        <vt:i4>2</vt:i4>
      </vt:variant>
      <vt:variant>
        <vt:lpstr>Embedded OLE Servers</vt:lpstr>
      </vt:variant>
      <vt:variant>
        <vt:i4>1</vt:i4>
      </vt:variant>
      <vt:variant>
        <vt:lpstr>Slide Titles</vt:lpstr>
      </vt:variant>
      <vt:variant>
        <vt:i4>7</vt:i4>
      </vt:variant>
    </vt:vector>
  </HeadingPairs>
  <TitlesOfParts>
    <vt:vector size="22" baseType="lpstr">
      <vt:lpstr>DengXian</vt:lpstr>
      <vt:lpstr>Aptos</vt:lpstr>
      <vt:lpstr>Arial</vt:lpstr>
      <vt:lpstr>Arial Black</vt:lpstr>
      <vt:lpstr>Arial Narrow</vt:lpstr>
      <vt:lpstr>Calibri</vt:lpstr>
      <vt:lpstr>Courier New</vt:lpstr>
      <vt:lpstr>Montserrat</vt:lpstr>
      <vt:lpstr>Montserrat ExtraBold</vt:lpstr>
      <vt:lpstr>System Font Regular</vt:lpstr>
      <vt:lpstr>Trebuchet MS</vt:lpstr>
      <vt:lpstr>Wingdings</vt:lpstr>
      <vt:lpstr>5_Office Theme</vt:lpstr>
      <vt:lpstr>6_Office Theme</vt:lpstr>
      <vt:lpstr>think-cell Slide</vt:lpstr>
      <vt:lpstr>Study population</vt:lpstr>
      <vt:lpstr>The three painkiller families (ATC group N02)</vt:lpstr>
      <vt:lpstr>Prescription volume, and what it leaves out</vt:lpstr>
      <vt:lpstr>Drug mix, share-versus-count </vt:lpstr>
      <vt:lpstr>Lines of therapy, and how a line is counted</vt:lpstr>
      <vt:lpstr>Adherence, and why it is not a finding here</vt:lpstr>
      <vt:lpstr>What we DON’T know</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Communications</dc:title>
  <dc:creator>Jackett, Stephen</dc:creator>
  <cp:lastModifiedBy>Irvine, Ryan</cp:lastModifiedBy>
  <cp:revision>1</cp:revision>
  <dcterms:created xsi:type="dcterms:W3CDTF">2024-05-03T12:11:17Z</dcterms:created>
  <dcterms:modified xsi:type="dcterms:W3CDTF">2026-08-17T18:07:29Z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-1207573766</vt:i4>
  </property>
  <property fmtid="{D5CDD505-2E9C-101B-9397-08002B2CF9AE}" pid="3" name="_NewReviewCycle">
    <vt:lpwstr/>
  </property>
  <property fmtid="{D5CDD505-2E9C-101B-9397-08002B2CF9AE}" pid="4" name="_EmailSubject">
    <vt:lpwstr>OGN storytelling materials plan</vt:lpwstr>
  </property>
  <property fmtid="{D5CDD505-2E9C-101B-9397-08002B2CF9AE}" pid="5" name="_AuthorEmail">
    <vt:lpwstr>stephen.jackett@organon.com</vt:lpwstr>
  </property>
  <property fmtid="{D5CDD505-2E9C-101B-9397-08002B2CF9AE}" pid="6" name="_AuthorEmailDisplayName">
    <vt:lpwstr>Jackett, Stephen</vt:lpwstr>
  </property>
  <property fmtid="{D5CDD505-2E9C-101B-9397-08002B2CF9AE}" pid="7" name="MSIP_Label_9e5572be-d5bb-4f9b-88a4-df12000c467e_Enabled">
    <vt:lpwstr>true</vt:lpwstr>
  </property>
  <property fmtid="{D5CDD505-2E9C-101B-9397-08002B2CF9AE}" pid="8" name="MSIP_Label_9e5572be-d5bb-4f9b-88a4-df12000c467e_SetDate">
    <vt:lpwstr>2025-02-13T16:05:00Z</vt:lpwstr>
  </property>
  <property fmtid="{D5CDD505-2E9C-101B-9397-08002B2CF9AE}" pid="9" name="MSIP_Label_9e5572be-d5bb-4f9b-88a4-df12000c467e_Method">
    <vt:lpwstr>Privileged</vt:lpwstr>
  </property>
  <property fmtid="{D5CDD505-2E9C-101B-9397-08002B2CF9AE}" pid="10" name="MSIP_Label_9e5572be-d5bb-4f9b-88a4-df12000c467e_Name">
    <vt:lpwstr>English - Proprietary</vt:lpwstr>
  </property>
  <property fmtid="{D5CDD505-2E9C-101B-9397-08002B2CF9AE}" pid="11" name="MSIP_Label_9e5572be-d5bb-4f9b-88a4-df12000c467e_SiteId">
    <vt:lpwstr>484a70d1-caaf-4a03-a477-1cbe688304af</vt:lpwstr>
  </property>
  <property fmtid="{D5CDD505-2E9C-101B-9397-08002B2CF9AE}" pid="12" name="MSIP_Label_9e5572be-d5bb-4f9b-88a4-df12000c467e_ActionId">
    <vt:lpwstr>6e573f1d-4870-4335-a868-0697b54b0513</vt:lpwstr>
  </property>
  <property fmtid="{D5CDD505-2E9C-101B-9397-08002B2CF9AE}" pid="13" name="MSIP_Label_9e5572be-d5bb-4f9b-88a4-df12000c467e_ContentBits">
    <vt:lpwstr>1</vt:lpwstr>
  </property>
  <property fmtid="{D5CDD505-2E9C-101B-9397-08002B2CF9AE}" pid="14" name="ClassificationContentMarkingHeaderLocations">
    <vt:lpwstr>5_Office Theme:4\13_Office Theme:9\15_Office Theme:9\7_Office Theme:4\8_Office Theme:10\6_Office Theme:10\16_Office Theme:10\Organon W:10\1_Office Theme:4</vt:lpwstr>
  </property>
  <property fmtid="{D5CDD505-2E9C-101B-9397-08002B2CF9AE}" pid="15" name="ClassificationContentMarkingHeaderText">
    <vt:lpwstr>[Organon] Proprietary</vt:lpwstr>
  </property>
  <property fmtid="{D5CDD505-2E9C-101B-9397-08002B2CF9AE}" pid="16" name="ContentTypeId">
    <vt:lpwstr>0x010100DC7BAB66966A5F4CBB1169870B003EA0</vt:lpwstr>
  </property>
  <property fmtid="{D5CDD505-2E9C-101B-9397-08002B2CF9AE}" pid="17" name="MediaServiceImageTags">
    <vt:lpwstr/>
  </property>
</Properties>
</file>